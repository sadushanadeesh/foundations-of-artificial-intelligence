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0B238F-020E-41C4-BA5F-03D8A24AB47B}"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CB88BD-878E-48EA-8CC6-3FF00B2D1F61}" type="slidenum">
              <a:rPr lang="en-US" smtClean="0"/>
              <a:t>‹#›</a:t>
            </a:fld>
            <a:endParaRPr lang="en-US"/>
          </a:p>
        </p:txBody>
      </p:sp>
    </p:spTree>
    <p:extLst>
      <p:ext uri="{BB962C8B-B14F-4D97-AF65-F5344CB8AC3E}">
        <p14:creationId xmlns:p14="http://schemas.microsoft.com/office/powerpoint/2010/main" val="3245112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[TIMESTAMP: 0:00 - 0:20 | DURATION: 20 SECONDS]</a:t>
            </a:r>
          </a:p>
          <a:p>
            <a:endParaRPr dirty="0"/>
          </a:p>
          <a:p>
            <a:r>
              <a:rPr dirty="0"/>
              <a:t>SPEAKER SCRIPT:</a:t>
            </a:r>
          </a:p>
          <a:p>
            <a:r>
              <a:rPr dirty="0"/>
              <a:t>"Good day, My name is [Your Name], present</a:t>
            </a:r>
            <a:r>
              <a:rPr lang="en-US" dirty="0"/>
              <a:t>ing</a:t>
            </a:r>
            <a:r>
              <a:rPr dirty="0"/>
              <a:t> my Coursework 1 submission for the Foundations of Artificial Intelligence module: an AI Travel Assistant designed for Hybrid Intelligent Route Planning and Context-Aware Recommendation.</a:t>
            </a:r>
          </a:p>
          <a:p>
            <a:endParaRPr dirty="0"/>
          </a:p>
          <a:p>
            <a:r>
              <a:rPr lang="en-US" dirty="0"/>
              <a:t>Upcoming slides will cover the design </a:t>
            </a:r>
            <a:r>
              <a:rPr dirty="0"/>
              <a:t>walkthrough</a:t>
            </a:r>
            <a:r>
              <a:rPr lang="en-US" dirty="0"/>
              <a:t>, </a:t>
            </a:r>
            <a:r>
              <a:rPr dirty="0"/>
              <a:t>focusing on its architecture, mathematical underpinnings, empirical validation, and fundamental scaling boundaries. Let us begin by examining the underlying problem domain."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[TIMESTAMP: 0:20 - 1:20 | DURATION: 1 MINUTE]</a:t>
            </a:r>
          </a:p>
          <a:p>
            <a:endParaRPr dirty="0"/>
          </a:p>
          <a:p>
            <a:r>
              <a:rPr dirty="0"/>
              <a:t>SPEAKER SCRIPT:</a:t>
            </a:r>
          </a:p>
          <a:p>
            <a:r>
              <a:rPr lang="en-US" dirty="0"/>
              <a:t>Traditional navigation systems mainly focus on finding the shortest or fastest route using distance and travel time. However, they usually do not consider factors such as weather, safety, or individual user preferences.</a:t>
            </a:r>
          </a:p>
          <a:p>
            <a:endParaRPr lang="en-US" dirty="0"/>
          </a:p>
          <a:p>
            <a:r>
              <a:rPr lang="en-US" dirty="0"/>
              <a:t>For example, they may recommend an outdoor attraction during heavy rain or choose a shorter but less safe road at night. They also provide the same type of route for everyone, even though different users have different needs.</a:t>
            </a:r>
          </a:p>
          <a:p>
            <a:endParaRPr lang="en-US" dirty="0"/>
          </a:p>
          <a:p>
            <a:r>
              <a:rPr lang="en-US" dirty="0"/>
              <a:t>This project improves on this by combining route planning with real-world context and Machine Learning. The system creates </a:t>
            </a:r>
            <a:r>
              <a:rPr lang="en-US" dirty="0" err="1"/>
              <a:t>personalised</a:t>
            </a:r>
            <a:r>
              <a:rPr lang="en-US" dirty="0"/>
              <a:t> routes based on user preferences, environmental conditions, and the user's travel goals.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[TIMESTAMP: 1:20 - 2:40 | DURATION: 1 MINUTE 20 SECONDS]</a:t>
            </a:r>
          </a:p>
          <a:p>
            <a:endParaRPr dirty="0"/>
          </a:p>
          <a:p>
            <a:r>
              <a:rPr dirty="0"/>
              <a:t>SPEAKER SCRIPT:</a:t>
            </a:r>
          </a:p>
          <a:p>
            <a:r>
              <a:rPr lang="en-US" dirty="0"/>
              <a:t>To overcome the limitations of traditional navigation systems, this project uses a modular AI pipeline that combines three areas of AI: Graph Search, Knowledge Representation, and Machine Learning.</a:t>
            </a:r>
          </a:p>
          <a:p>
            <a:endParaRPr lang="en-US" dirty="0"/>
          </a:p>
          <a:p>
            <a:r>
              <a:rPr lang="en-US" dirty="0"/>
              <a:t>The system works in five main steps. First, it collects road network data from OpenStreetMap and converts it into a graph structure. Second, a rule-based system adds real-world context, such as weather, time, and safety conditions, to adjust route costs. Third, the A* algorithm finds the most efficient base route. Fourth, a Machine Learning model recommends suitable Points of Interest based on user preferences, such as budget or luxury choices. Finally, a TSP-based </a:t>
            </a:r>
            <a:r>
              <a:rPr lang="en-US" dirty="0" err="1"/>
              <a:t>optimiser</a:t>
            </a:r>
            <a:r>
              <a:rPr lang="en-US" dirty="0"/>
              <a:t> arranges the selected stops into the best visiting order.</a:t>
            </a:r>
          </a:p>
          <a:p>
            <a:endParaRPr lang="en-US" dirty="0"/>
          </a:p>
          <a:p>
            <a:r>
              <a:rPr lang="en-US" dirty="0"/>
              <a:t>This modular approach allows each AI component to work together while remaining flexible and easy to improve.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[TIMESTAMP: 2:40 - 3:40 | DURATION: 1 MINUTE]</a:t>
            </a:r>
          </a:p>
          <a:p>
            <a:endParaRPr dirty="0"/>
          </a:p>
          <a:p>
            <a:r>
              <a:rPr dirty="0"/>
              <a:t>SPEAKER SCRIPT:</a:t>
            </a:r>
          </a:p>
          <a:p>
            <a:r>
              <a:rPr lang="en-US" dirty="0"/>
              <a:t>A key part of the evaluation was comparing Dijkstra’s algorithm and A* Search on a real road network in Colombo, Sri Lanka. Both algorithms were implemented from scratch and tested on a 4.76 km route.</a:t>
            </a:r>
          </a:p>
          <a:p>
            <a:endParaRPr lang="en-US" dirty="0"/>
          </a:p>
          <a:p>
            <a:r>
              <a:rPr lang="en-US" dirty="0"/>
              <a:t>The results showed that both algorithms found the same shortest path and travel time, proving that both were accurate. However, their efficiency was very different. Dijkstra expanded 1,809 nodes because it searched in all directions, while A* expanded only 87 nodes using the Haversine distance heuristic to guide the search.</a:t>
            </a:r>
          </a:p>
          <a:p>
            <a:endParaRPr lang="en-US" dirty="0"/>
          </a:p>
          <a:p>
            <a:r>
              <a:rPr lang="en-US" dirty="0"/>
              <a:t>This reduced the search space by 95.2% while maintaining the same optimal route. The result shows that A* can provide faster route calculations without losing accuracy, making it more suitable for large-scale navigation systems.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[TIMESTAMP: 3:40 - 4:30 | DURATION: 50 SECONDS]</a:t>
            </a:r>
          </a:p>
          <a:p>
            <a:endParaRPr dirty="0"/>
          </a:p>
          <a:p>
            <a:r>
              <a:rPr dirty="0"/>
              <a:t>SPEAKER SCRIPT:</a:t>
            </a:r>
          </a:p>
          <a:p>
            <a:r>
              <a:rPr lang="en-US" dirty="0"/>
              <a:t>The system uses two main types of data. First, real-world map data is collected from OpenStreetMap using the </a:t>
            </a:r>
            <a:r>
              <a:rPr lang="en-US" dirty="0" err="1"/>
              <a:t>OSMnx</a:t>
            </a:r>
            <a:r>
              <a:rPr lang="en-US" dirty="0"/>
              <a:t> library. This creates a road network graph containing real intersections and roads. The data is saved locally as </a:t>
            </a:r>
            <a:r>
              <a:rPr lang="en-US" dirty="0" err="1"/>
              <a:t>GraphML</a:t>
            </a:r>
            <a:r>
              <a:rPr lang="en-US" dirty="0"/>
              <a:t> files to improve performance and allow faster future access.</a:t>
            </a:r>
          </a:p>
          <a:p>
            <a:endParaRPr lang="en-US" dirty="0"/>
          </a:p>
          <a:p>
            <a:r>
              <a:rPr lang="en-US" dirty="0"/>
              <a:t>Second, synthetic data is created to train the Machine Learning model without using private user information. The system generates 10,000 simulated user records using features such as detour distance, route distance, category match, and venue rating.</a:t>
            </a:r>
          </a:p>
          <a:p>
            <a:endParaRPr lang="en-US" dirty="0"/>
          </a:p>
          <a:p>
            <a:r>
              <a:rPr lang="en-US" dirty="0"/>
              <a:t>Two user profiles are created: Budget and Luxury. The Budget model </a:t>
            </a:r>
            <a:r>
              <a:rPr lang="en-US" dirty="0" err="1"/>
              <a:t>prioritises</a:t>
            </a:r>
            <a:r>
              <a:rPr lang="en-US" dirty="0"/>
              <a:t> shorter and cheaper routes, while the Luxury model gives more importance to ratings and quality, even if extra travel is required. These datasets are used to train the Decision Tree models for </a:t>
            </a:r>
            <a:r>
              <a:rPr lang="en-US" dirty="0" err="1"/>
              <a:t>personalised</a:t>
            </a:r>
            <a:r>
              <a:rPr lang="en-US" dirty="0"/>
              <a:t> POI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[TIMESTAMP: 4:30 - 5:30 | DURATION: 1 MINUTE]</a:t>
            </a:r>
          </a:p>
          <a:p>
            <a:endParaRPr dirty="0"/>
          </a:p>
          <a:p>
            <a:r>
              <a:rPr dirty="0"/>
              <a:t>SPEAKER SCRIPT:</a:t>
            </a:r>
          </a:p>
          <a:p>
            <a:r>
              <a:rPr lang="en-US" dirty="0"/>
              <a:t>This implementation has five main limitations. First, the TSP route </a:t>
            </a:r>
            <a:r>
              <a:rPr lang="en-US" dirty="0" err="1"/>
              <a:t>optimiser</a:t>
            </a:r>
            <a:r>
              <a:rPr lang="en-US" dirty="0"/>
              <a:t> becomes slow when many stops are added because the number of possible routes grows very quickly.</a:t>
            </a:r>
          </a:p>
          <a:p>
            <a:endParaRPr lang="en-US" dirty="0"/>
          </a:p>
          <a:p>
            <a:r>
              <a:rPr lang="en-US" dirty="0"/>
              <a:t>Second, the system uses static map data and cannot detect real-time traffic or unexpected road events.</a:t>
            </a:r>
          </a:p>
          <a:p>
            <a:endParaRPr lang="en-US" dirty="0"/>
          </a:p>
          <a:p>
            <a:r>
              <a:rPr lang="en-US" dirty="0"/>
              <a:t>Third, the Machine Learning model uses synthetic data, so it reflects predefined assumptions rather than real user </a:t>
            </a:r>
            <a:r>
              <a:rPr lang="en-US" dirty="0" err="1"/>
              <a:t>behaviour</a:t>
            </a:r>
            <a:r>
              <a:rPr lang="en-US" dirty="0"/>
              <a:t>.</a:t>
            </a:r>
          </a:p>
          <a:p>
            <a:endParaRPr lang="en-US" dirty="0"/>
          </a:p>
          <a:p>
            <a:r>
              <a:rPr lang="en-US" dirty="0"/>
              <a:t>Fourth, OpenStreetMap quality can vary between locations, which may create uneven route recommendations.</a:t>
            </a:r>
          </a:p>
          <a:p>
            <a:endParaRPr lang="en-US" dirty="0"/>
          </a:p>
          <a:p>
            <a:r>
              <a:rPr lang="en-US" dirty="0"/>
              <a:t>Finally, the current system only focuses on road networks and does not support other transport modes like walking, cycling, or public transport. These areas will be improved in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[TIMESTAMP: 5:30 - 6:30 | DURATION: 1 MINUTE]</a:t>
            </a:r>
          </a:p>
          <a:p>
            <a:endParaRPr dirty="0"/>
          </a:p>
          <a:p>
            <a:r>
              <a:rPr dirty="0"/>
              <a:t>SPEAKER SCRIPT:</a:t>
            </a:r>
          </a:p>
          <a:p>
            <a:r>
              <a:rPr lang="en-US" dirty="0"/>
              <a:t>To improve this prototype into a production-level system, several future improvements are needed.</a:t>
            </a:r>
          </a:p>
          <a:p>
            <a:endParaRPr lang="en-US" dirty="0"/>
          </a:p>
          <a:p>
            <a:r>
              <a:rPr lang="en-US" dirty="0"/>
              <a:t>First, the TSP </a:t>
            </a:r>
            <a:r>
              <a:rPr lang="en-US" dirty="0" err="1"/>
              <a:t>optimiser</a:t>
            </a:r>
            <a:r>
              <a:rPr lang="en-US" dirty="0"/>
              <a:t> should be replaced with faster methods such as Genetic Algorithms or Simulated Annealing to handle larger numbers of stops efficiently.</a:t>
            </a:r>
          </a:p>
          <a:p>
            <a:endParaRPr lang="en-US" dirty="0"/>
          </a:p>
          <a:p>
            <a:r>
              <a:rPr lang="en-US" dirty="0"/>
              <a:t>Second, static travel times should be replaced with real-time traffic data from services such as Google Distance Matrix or TomTom Traffic.</a:t>
            </a:r>
          </a:p>
          <a:p>
            <a:endParaRPr lang="en-US" dirty="0"/>
          </a:p>
          <a:p>
            <a:r>
              <a:rPr lang="en-US" dirty="0"/>
              <a:t>Third, the Machine Learning model should be trained using real user </a:t>
            </a:r>
            <a:r>
              <a:rPr lang="en-US" dirty="0" err="1"/>
              <a:t>behaviour</a:t>
            </a:r>
            <a:r>
              <a:rPr lang="en-US" dirty="0"/>
              <a:t>, such as route choices and recommendations accepted by users, instead of synthetic data.</a:t>
            </a:r>
          </a:p>
          <a:p>
            <a:endParaRPr lang="en-US" dirty="0"/>
          </a:p>
          <a:p>
            <a:r>
              <a:rPr lang="en-US" dirty="0"/>
              <a:t>Fourth, the system should support multiple transport modes by including walking paths, cycling routes, and public transport networks.</a:t>
            </a:r>
          </a:p>
          <a:p>
            <a:endParaRPr lang="en-US" dirty="0"/>
          </a:p>
          <a:p>
            <a:r>
              <a:rPr lang="en-US" dirty="0"/>
              <a:t>Finally, accessibility features should be added by using data such as wheelchair access, road slopes, and pedestrian facilities to create safer and more inclusive routes for all users.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[TIMESTAMP: 6:30 - 7:00 | DURATION: 30 SECONDS]</a:t>
            </a:r>
          </a:p>
          <a:p>
            <a:endParaRPr dirty="0"/>
          </a:p>
          <a:p>
            <a:r>
              <a:rPr dirty="0"/>
              <a:t>SPEAKER SCRIPT:</a:t>
            </a:r>
          </a:p>
          <a:p>
            <a:r>
              <a:rPr lang="en-US" dirty="0"/>
              <a:t>In conclusion, this project shows that intelligent navigation requires more than finding the shortest route. A useful travel assistant must also understand real-world conditions and individual user preferences.</a:t>
            </a:r>
          </a:p>
          <a:p>
            <a:endParaRPr lang="en-US" dirty="0"/>
          </a:p>
          <a:p>
            <a:r>
              <a:rPr lang="en-US" dirty="0"/>
              <a:t>By combining graph search, rule-based reasoning, and Machine Learning, this system demonstrates how different AI techniques can work together to create a </a:t>
            </a:r>
            <a:r>
              <a:rPr lang="en-US" dirty="0" err="1"/>
              <a:t>personalised</a:t>
            </a:r>
            <a:r>
              <a:rPr lang="en-US" dirty="0"/>
              <a:t> and context-aware navigation solution.</a:t>
            </a:r>
          </a:p>
          <a:p>
            <a:endParaRPr lang="en-US" dirty="0"/>
          </a:p>
          <a:p>
            <a:r>
              <a:rPr lang="en-US" dirty="0"/>
              <a:t>Thank you for your time </a:t>
            </a:r>
            <a:r>
              <a:rPr lang="en-US"/>
              <a:t>and attention.</a:t>
            </a:r>
            <a:endParaRPr lang="en-US"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0CA7F-2DFD-391D-1CF9-266CDDD613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81AC19-DCE6-19F8-3E7C-B344F5E896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1109CA-3F63-B191-9712-B30CC1DF785B}"/>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5" name="Footer Placeholder 4">
            <a:extLst>
              <a:ext uri="{FF2B5EF4-FFF2-40B4-BE49-F238E27FC236}">
                <a16:creationId xmlns:a16="http://schemas.microsoft.com/office/drawing/2014/main" id="{0F3D1CA3-F9E5-3AB6-824B-F5FFE4AF1E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44650-BDB5-05A2-A78E-71F3C1CBBBCE}"/>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3985376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1DEA9-BA8E-B7DA-ECC1-C166071102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DFDFA1-0371-E092-4F77-1386F46FF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A92760-F7FA-2BB3-2B38-18D4CBBEFDD6}"/>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5" name="Footer Placeholder 4">
            <a:extLst>
              <a:ext uri="{FF2B5EF4-FFF2-40B4-BE49-F238E27FC236}">
                <a16:creationId xmlns:a16="http://schemas.microsoft.com/office/drawing/2014/main" id="{25E84E55-80B6-CAA5-BDD5-1DDA3F523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E9E9B-E225-726D-AD69-C31A7911E297}"/>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1986739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7997A-626C-4A5E-8177-EF199EF9A3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D1D076-D4D6-8EB7-56E4-4D786A0F50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56DB67-8C49-533F-9AF2-B636D8181AFB}"/>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5" name="Footer Placeholder 4">
            <a:extLst>
              <a:ext uri="{FF2B5EF4-FFF2-40B4-BE49-F238E27FC236}">
                <a16:creationId xmlns:a16="http://schemas.microsoft.com/office/drawing/2014/main" id="{9D8A3637-3137-9A3B-8A1F-33D77011DD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49AC8F-9026-57FF-B4DA-83B8090C23AF}"/>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1232268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6447D-66A2-AE95-CE03-A6B836C96B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614B75-4A42-C978-FFA9-BD782169AD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7DBF9D-F3D4-2C54-83DA-2391FA5D5C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16DEF9-9DFF-22EC-E5DC-1F33D8B7A2AE}"/>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6" name="Footer Placeholder 5">
            <a:extLst>
              <a:ext uri="{FF2B5EF4-FFF2-40B4-BE49-F238E27FC236}">
                <a16:creationId xmlns:a16="http://schemas.microsoft.com/office/drawing/2014/main" id="{23D4C6C4-94CF-2043-2628-1EC95F77C3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A34CDB-0BF6-2953-23D2-033281F03ED8}"/>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2600913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E813A-BBF0-0F44-F077-FB2F16AC18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19ACD8-57DD-01A6-FEEA-5E353FAD42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2C740D-2AEE-D24E-EB35-2FB7A95D32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E2320E-5A28-6BFF-FCC7-C5861E2077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8E27B3-A8D8-3A35-0E98-E37E3368A8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7AF6F4-9A0F-BE23-F9C7-6291FBF05FDB}"/>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8" name="Footer Placeholder 7">
            <a:extLst>
              <a:ext uri="{FF2B5EF4-FFF2-40B4-BE49-F238E27FC236}">
                <a16:creationId xmlns:a16="http://schemas.microsoft.com/office/drawing/2014/main" id="{D21BFE22-D254-E9EB-707E-B516B47143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FC011F-8156-3C57-624F-D4163DFB34F6}"/>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3315952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0531A-331D-CCD9-ECD4-13F963B21F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67C07B-A3F8-7166-57E7-432C132FE480}"/>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4" name="Footer Placeholder 3">
            <a:extLst>
              <a:ext uri="{FF2B5EF4-FFF2-40B4-BE49-F238E27FC236}">
                <a16:creationId xmlns:a16="http://schemas.microsoft.com/office/drawing/2014/main" id="{34E0962E-B3B1-DB0C-5C3A-859B99F290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6AE51B-2348-2381-0691-E6CB29B59A4E}"/>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296045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A979C7-3E64-6BD8-32E4-D896B76CF64B}"/>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3" name="Footer Placeholder 2">
            <a:extLst>
              <a:ext uri="{FF2B5EF4-FFF2-40B4-BE49-F238E27FC236}">
                <a16:creationId xmlns:a16="http://schemas.microsoft.com/office/drawing/2014/main" id="{8F75E670-2559-DD49-2D16-5687684A9D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BB5BCE-AFF5-6AC0-4BE6-BE9BC2A8AC5A}"/>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199748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13BE7-F60C-1581-8B5C-25B66ECC46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09C694-309A-87CE-F777-AA6247228F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A05949-8A9C-B8ED-B76B-81DAD158A9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FA7967-A40C-3CF4-A214-BEB62CD17778}"/>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6" name="Footer Placeholder 5">
            <a:extLst>
              <a:ext uri="{FF2B5EF4-FFF2-40B4-BE49-F238E27FC236}">
                <a16:creationId xmlns:a16="http://schemas.microsoft.com/office/drawing/2014/main" id="{FE249E6E-EEBB-23F5-9F28-E956DFF47B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EFD5B2-AA89-2AD1-83BD-A9FC6D600260}"/>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2640550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BA6A1-11AE-039D-4C05-64EDF531B5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3BCCB1-1021-0E04-AC61-D49E8A13BC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7BE95B-00AA-4911-27AE-FECDF6C622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CEBA4-065D-C4E3-C6B2-7F1CBB82B4AE}"/>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6" name="Footer Placeholder 5">
            <a:extLst>
              <a:ext uri="{FF2B5EF4-FFF2-40B4-BE49-F238E27FC236}">
                <a16:creationId xmlns:a16="http://schemas.microsoft.com/office/drawing/2014/main" id="{D5C411D8-0F6E-A092-7B13-16F9C7BDC1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BBAD1C-CFDC-A6AD-D428-667BF57E66A1}"/>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2778305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98F55-D97C-8AB5-A2A1-A080D7B03F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45C51B-388F-E362-0B95-344D8179E8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3E1382-A6CD-9086-C7FD-AD0474149489}"/>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5" name="Footer Placeholder 4">
            <a:extLst>
              <a:ext uri="{FF2B5EF4-FFF2-40B4-BE49-F238E27FC236}">
                <a16:creationId xmlns:a16="http://schemas.microsoft.com/office/drawing/2014/main" id="{CFD7F9DA-606E-B504-F057-EE5A11E362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272897-9593-AB1E-5235-AEE99FD9DEAE}"/>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2278874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016D22-2908-4D9B-1B35-5032D62B0A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1745D2-E8AC-DB85-4E30-673D796C9E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723B3-4218-5C29-79F7-2ACAF889128C}"/>
              </a:ext>
            </a:extLst>
          </p:cNvPr>
          <p:cNvSpPr>
            <a:spLocks noGrp="1"/>
          </p:cNvSpPr>
          <p:nvPr>
            <p:ph type="dt" sz="half" idx="10"/>
          </p:nvPr>
        </p:nvSpPr>
        <p:spPr/>
        <p:txBody>
          <a:bodyPr/>
          <a:lstStyle/>
          <a:p>
            <a:fld id="{E640E55E-2D0A-4265-BCF7-6E100853BBF1}" type="datetimeFigureOut">
              <a:rPr lang="en-US" smtClean="0"/>
              <a:t>8/5/2026</a:t>
            </a:fld>
            <a:endParaRPr lang="en-US"/>
          </a:p>
        </p:txBody>
      </p:sp>
      <p:sp>
        <p:nvSpPr>
          <p:cNvPr id="5" name="Footer Placeholder 4">
            <a:extLst>
              <a:ext uri="{FF2B5EF4-FFF2-40B4-BE49-F238E27FC236}">
                <a16:creationId xmlns:a16="http://schemas.microsoft.com/office/drawing/2014/main" id="{9B4880C4-9A40-EE00-14FC-9A368E6026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D5BB97-FDBD-1E0A-49E6-0915C3E3FE15}"/>
              </a:ext>
            </a:extLst>
          </p:cNvPr>
          <p:cNvSpPr>
            <a:spLocks noGrp="1"/>
          </p:cNvSpPr>
          <p:nvPr>
            <p:ph type="sldNum" sz="quarter" idx="12"/>
          </p:nvPr>
        </p:nvSpPr>
        <p:spPr/>
        <p:txBody>
          <a:bodyPr/>
          <a:lstStyle/>
          <a:p>
            <a:fld id="{B3D1AA38-64A3-4D25-ABFE-5E9936CBC448}" type="slidenum">
              <a:rPr lang="en-US" smtClean="0"/>
              <a:t>‹#›</a:t>
            </a:fld>
            <a:endParaRPr lang="en-US"/>
          </a:p>
        </p:txBody>
      </p:sp>
    </p:spTree>
    <p:extLst>
      <p:ext uri="{BB962C8B-B14F-4D97-AF65-F5344CB8AC3E}">
        <p14:creationId xmlns:p14="http://schemas.microsoft.com/office/powerpoint/2010/main" val="1335641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9B5EB5-23A9-7C01-CD5D-B57EA40945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AA514F-83C5-67F2-D094-362DD5415B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7DF1A-F80C-F5DB-7491-9DF1FBFD82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40E55E-2D0A-4265-BCF7-6E100853BBF1}" type="datetimeFigureOut">
              <a:rPr lang="en-US" smtClean="0"/>
              <a:t>8/5/2026</a:t>
            </a:fld>
            <a:endParaRPr lang="en-US"/>
          </a:p>
        </p:txBody>
      </p:sp>
      <p:sp>
        <p:nvSpPr>
          <p:cNvPr id="5" name="Footer Placeholder 4">
            <a:extLst>
              <a:ext uri="{FF2B5EF4-FFF2-40B4-BE49-F238E27FC236}">
                <a16:creationId xmlns:a16="http://schemas.microsoft.com/office/drawing/2014/main" id="{8D0C47C8-31F8-2F89-B973-4CA5F1C2E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29F355-9808-E43F-A03B-C5BE95A005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D1AA38-64A3-4D25-ABFE-5E9936CBC448}" type="slidenum">
              <a:rPr lang="en-US" smtClean="0"/>
              <a:t>‹#›</a:t>
            </a:fld>
            <a:endParaRPr lang="en-US"/>
          </a:p>
        </p:txBody>
      </p:sp>
    </p:spTree>
    <p:extLst>
      <p:ext uri="{BB962C8B-B14F-4D97-AF65-F5344CB8AC3E}">
        <p14:creationId xmlns:p14="http://schemas.microsoft.com/office/powerpoint/2010/main" val="22155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1645920"/>
            <a:ext cx="5118709" cy="261610"/>
          </a:xfrm>
          <a:prstGeom prst="rect">
            <a:avLst/>
          </a:prstGeom>
          <a:noFill/>
        </p:spPr>
        <p:txBody>
          <a:bodyPr wrap="none">
            <a:spAutoFit/>
          </a:bodyPr>
          <a:lstStyle/>
          <a:p>
            <a:r>
              <a:rPr sz="1100" b="1" i="0" dirty="0">
                <a:solidFill>
                  <a:srgbClr val="008080"/>
                </a:solidFill>
                <a:latin typeface="Verdana"/>
              </a:rPr>
              <a:t>FOUNDATIONS OF ARTIFICIAL INTELLIGENCE  </a:t>
            </a:r>
            <a:r>
              <a:rPr sz="1100" b="1" i="0">
                <a:solidFill>
                  <a:srgbClr val="008080"/>
                </a:solidFill>
                <a:latin typeface="Verdana"/>
              </a:rPr>
              <a:t>•  7COSC013C</a:t>
            </a:r>
            <a:endParaRPr sz="1100" b="1" i="0" dirty="0">
              <a:solidFill>
                <a:srgbClr val="008080"/>
              </a:solidFill>
              <a:latin typeface="Verdana"/>
            </a:endParaRPr>
          </a:p>
        </p:txBody>
      </p:sp>
      <p:sp>
        <p:nvSpPr>
          <p:cNvPr id="4" name="TextBox 3"/>
          <p:cNvSpPr txBox="1"/>
          <p:nvPr/>
        </p:nvSpPr>
        <p:spPr>
          <a:xfrm>
            <a:off x="914400" y="2011680"/>
            <a:ext cx="10362895" cy="1651734"/>
          </a:xfrm>
          <a:prstGeom prst="rect">
            <a:avLst/>
          </a:prstGeom>
          <a:noFill/>
        </p:spPr>
        <p:txBody>
          <a:bodyPr wrap="square">
            <a:spAutoFit/>
          </a:bodyPr>
          <a:lstStyle/>
          <a:p>
            <a:pPr>
              <a:spcAft>
                <a:spcPts val="800"/>
              </a:spcAft>
            </a:pPr>
            <a:r>
              <a:rPr sz="4400" b="1" i="0" dirty="0">
                <a:solidFill>
                  <a:srgbClr val="1F1612"/>
                </a:solidFill>
                <a:latin typeface="Georgia"/>
              </a:rPr>
              <a:t>AI Travel Assistant
</a:t>
            </a:r>
            <a:r>
              <a:rPr sz="2200" b="0" i="1" dirty="0">
                <a:solidFill>
                  <a:srgbClr val="D4AF37"/>
                </a:solidFill>
                <a:latin typeface="Georgia"/>
              </a:rPr>
              <a:t>Hybrid Intelligent Route Planning &amp; Context-Aware</a:t>
            </a:r>
            <a:endParaRPr lang="en-US" sz="2200" b="0" i="1" dirty="0">
              <a:solidFill>
                <a:srgbClr val="D4AF37"/>
              </a:solidFill>
              <a:latin typeface="Georgia"/>
            </a:endParaRPr>
          </a:p>
          <a:p>
            <a:pPr>
              <a:spcAft>
                <a:spcPts val="800"/>
              </a:spcAft>
            </a:pPr>
            <a:r>
              <a:rPr sz="2200" b="0" i="1" dirty="0">
                <a:solidFill>
                  <a:srgbClr val="D4AF37"/>
                </a:solidFill>
                <a:latin typeface="Georgia"/>
              </a:rPr>
              <a:t> Recommendations</a:t>
            </a:r>
          </a:p>
        </p:txBody>
      </p:sp>
      <p:sp>
        <p:nvSpPr>
          <p:cNvPr id="5" name="Rectangle 4"/>
          <p:cNvSpPr/>
          <p:nvPr/>
        </p:nvSpPr>
        <p:spPr>
          <a:xfrm>
            <a:off x="914400" y="3931920"/>
            <a:ext cx="4572000" cy="50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297680"/>
            <a:ext cx="4572000" cy="1041311"/>
          </a:xfrm>
          <a:prstGeom prst="rect">
            <a:avLst/>
          </a:prstGeom>
          <a:noFill/>
        </p:spPr>
        <p:txBody>
          <a:bodyPr wrap="square">
            <a:spAutoFit/>
          </a:bodyPr>
          <a:lstStyle/>
          <a:p>
            <a:r>
              <a:rPr sz="1100" b="1" i="0" dirty="0">
                <a:solidFill>
                  <a:srgbClr val="708090"/>
                </a:solidFill>
                <a:latin typeface="Verdana"/>
              </a:rPr>
              <a:t>Assessment Portfolio: </a:t>
            </a:r>
            <a:r>
              <a:rPr sz="1100" b="0" i="0" dirty="0">
                <a:solidFill>
                  <a:srgbClr val="1F1612"/>
                </a:solidFill>
                <a:latin typeface="Verdana"/>
              </a:rPr>
              <a:t>Coursework 1 </a:t>
            </a:r>
            <a:r>
              <a:rPr lang="en-US" sz="1100" b="0" i="0" dirty="0">
                <a:solidFill>
                  <a:srgbClr val="1F1612"/>
                </a:solidFill>
                <a:latin typeface="Verdana"/>
              </a:rPr>
              <a:t>Live Demo</a:t>
            </a:r>
            <a:r>
              <a:rPr sz="1100" b="0" i="0" dirty="0">
                <a:solidFill>
                  <a:srgbClr val="1F1612"/>
                </a:solidFill>
                <a:latin typeface="Verdana"/>
              </a:rPr>
              <a:t>
</a:t>
            </a:r>
          </a:p>
          <a:p>
            <a:pPr>
              <a:spcAft>
                <a:spcPts val="400"/>
              </a:spcAft>
            </a:pPr>
            <a:r>
              <a:rPr lang="en-US" sz="1000" b="1" dirty="0">
                <a:solidFill>
                  <a:srgbClr val="625650"/>
                </a:solidFill>
                <a:latin typeface="Verdana"/>
              </a:rPr>
              <a:t>Presenter: </a:t>
            </a:r>
            <a:r>
              <a:rPr lang="en-US" sz="1100" b="1" dirty="0" err="1">
                <a:solidFill>
                  <a:srgbClr val="006666"/>
                </a:solidFill>
                <a:latin typeface="Verdana"/>
              </a:rPr>
              <a:t>K.P.Sadusha</a:t>
            </a:r>
            <a:r>
              <a:rPr lang="en-US" sz="1100" b="1" dirty="0">
                <a:solidFill>
                  <a:srgbClr val="006666"/>
                </a:solidFill>
                <a:latin typeface="Verdana"/>
              </a:rPr>
              <a:t> Nadeesh De Silva</a:t>
            </a:r>
          </a:p>
          <a:p>
            <a:pPr>
              <a:spcAft>
                <a:spcPts val="400"/>
              </a:spcAft>
            </a:pPr>
            <a:r>
              <a:rPr lang="en-US" sz="1000" b="1" dirty="0">
                <a:solidFill>
                  <a:srgbClr val="625650"/>
                </a:solidFill>
                <a:latin typeface="Verdana"/>
              </a:rPr>
              <a:t>Student ID UOW: </a:t>
            </a:r>
            <a:r>
              <a:rPr lang="en-US" sz="1100" b="1" dirty="0">
                <a:solidFill>
                  <a:srgbClr val="006666"/>
                </a:solidFill>
                <a:latin typeface="Verdana"/>
              </a:rPr>
              <a:t>22238997</a:t>
            </a:r>
          </a:p>
          <a:p>
            <a:pPr>
              <a:spcAft>
                <a:spcPts val="400"/>
              </a:spcAft>
            </a:pPr>
            <a:r>
              <a:rPr lang="en-US" sz="1000" b="1" dirty="0">
                <a:solidFill>
                  <a:srgbClr val="625650"/>
                </a:solidFill>
                <a:latin typeface="Verdana"/>
              </a:rPr>
              <a:t>IIT ID: </a:t>
            </a:r>
            <a:r>
              <a:rPr lang="en-US" sz="1100" b="1" dirty="0">
                <a:solidFill>
                  <a:srgbClr val="006666"/>
                </a:solidFill>
                <a:latin typeface="Verdana"/>
              </a:rPr>
              <a:t>20251211</a:t>
            </a:r>
          </a:p>
        </p:txBody>
      </p:sp>
      <p:sp>
        <p:nvSpPr>
          <p:cNvPr id="7" name="Rounded Rectangle 6"/>
          <p:cNvSpPr/>
          <p:nvPr/>
        </p:nvSpPr>
        <p:spPr>
          <a:xfrm>
            <a:off x="7702476" y="1645920"/>
            <a:ext cx="3962095" cy="4389120"/>
          </a:xfrm>
          <a:prstGeom prst="roundRect">
            <a:avLst/>
          </a:prstGeom>
          <a:solidFill>
            <a:srgbClr val="F5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85355" y="1920240"/>
            <a:ext cx="3566160" cy="3840480"/>
          </a:xfrm>
          <a:prstGeom prst="rect">
            <a:avLst/>
          </a:prstGeom>
          <a:noFill/>
        </p:spPr>
        <p:txBody>
          <a:bodyPr wrap="square">
            <a:spAutoFit/>
          </a:bodyPr>
          <a:lstStyle/>
          <a:p>
            <a:pPr>
              <a:spcAft>
                <a:spcPts val="1400"/>
              </a:spcAft>
            </a:pPr>
            <a:r>
              <a:rPr sz="1400" b="1" i="0">
                <a:solidFill>
                  <a:srgbClr val="008080"/>
                </a:solidFill>
                <a:latin typeface="Georgia"/>
              </a:rPr>
              <a:t>SYSTEM HIGHLIGHTS</a:t>
            </a:r>
          </a:p>
          <a:p>
            <a:pPr>
              <a:spcAft>
                <a:spcPts val="800"/>
              </a:spcAft>
            </a:pPr>
            <a:r>
              <a:rPr sz="1000" b="1" i="0">
                <a:solidFill>
                  <a:srgbClr val="1F1612"/>
                </a:solidFill>
                <a:latin typeface="Verdana"/>
              </a:rPr>
              <a:t>• Hybrid AI Integration: </a:t>
            </a:r>
            <a:r>
              <a:rPr sz="1000" b="0" i="0">
                <a:solidFill>
                  <a:srgbClr val="1F1612"/>
                </a:solidFill>
                <a:latin typeface="Verdana"/>
              </a:rPr>
              <a:t>Combines Knowledge-based Symbolic AI, Statistical Machine Learning, and classical admissible heuristic search (A*).</a:t>
            </a:r>
          </a:p>
          <a:p>
            <a:pPr>
              <a:spcAft>
                <a:spcPts val="800"/>
              </a:spcAft>
            </a:pPr>
            <a:r>
              <a:rPr sz="1000" b="1" i="0">
                <a:solidFill>
                  <a:srgbClr val="1F1612"/>
                </a:solidFill>
                <a:latin typeface="Verdana"/>
              </a:rPr>
              <a:t>• Personalised Utility: </a:t>
            </a:r>
            <a:r>
              <a:rPr sz="1000" b="0" i="0">
                <a:solidFill>
                  <a:srgbClr val="1F1612"/>
                </a:solidFill>
                <a:latin typeface="Verdana"/>
              </a:rPr>
              <a:t>Applies custom-weighted classification to rank POIs for distinctive 'Budget' and 'Luxury' traveler profiles.</a:t>
            </a:r>
          </a:p>
          <a:p>
            <a:pPr>
              <a:spcAft>
                <a:spcPts val="800"/>
              </a:spcAft>
            </a:pPr>
            <a:r>
              <a:rPr sz="1000" b="1" i="0">
                <a:solidFill>
                  <a:srgbClr val="1F1612"/>
                </a:solidFill>
                <a:latin typeface="Verdana"/>
              </a:rPr>
              <a:t>• Empirical Efficiency: </a:t>
            </a:r>
            <a:r>
              <a:rPr sz="1000" b="0" i="0">
                <a:solidFill>
                  <a:srgbClr val="1F1612"/>
                </a:solidFill>
                <a:latin typeface="Verdana"/>
              </a:rPr>
              <a:t>Demonstrates 95.2% reduction in search space nodes in real Colombo network trials over classical baseline Dijkstra.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65760"/>
            <a:ext cx="11277295" cy="923330"/>
          </a:xfrm>
          <a:prstGeom prst="rect">
            <a:avLst/>
          </a:prstGeom>
          <a:noFill/>
        </p:spPr>
        <p:txBody>
          <a:bodyPr wrap="square" tIns="91440" bIns="91440">
            <a:spAutoFit/>
          </a:bodyPr>
          <a:lstStyle/>
          <a:p>
            <a:pPr>
              <a:spcAft>
                <a:spcPts val="200"/>
              </a:spcAft>
            </a:pPr>
            <a:r>
              <a:rPr sz="1000" b="1" i="0" dirty="0">
                <a:solidFill>
                  <a:srgbClr val="008080"/>
                </a:solidFill>
                <a:latin typeface="Verdana"/>
              </a:rPr>
              <a:t>PROBLEM STATEMENT  |  </a:t>
            </a:r>
            <a:r>
              <a:rPr sz="2400" b="1" i="0" dirty="0">
                <a:solidFill>
                  <a:srgbClr val="1F1612"/>
                </a:solidFill>
                <a:latin typeface="Georgia"/>
              </a:rPr>
              <a:t>The Paradigm Shift: From Blind Routing to Context-Aware Assistance</a:t>
            </a:r>
          </a:p>
        </p:txBody>
      </p:sp>
      <p:sp>
        <p:nvSpPr>
          <p:cNvPr id="4" name="Rectangle 3"/>
          <p:cNvSpPr/>
          <p:nvPr/>
        </p:nvSpPr>
        <p:spPr>
          <a:xfrm>
            <a:off x="457200" y="1331258"/>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5486400" cy="4846320"/>
          </a:xfrm>
          <a:prstGeom prst="rect">
            <a:avLst/>
          </a:prstGeom>
          <a:noFill/>
        </p:spPr>
        <p:txBody>
          <a:bodyPr wrap="square">
            <a:spAutoFit/>
          </a:bodyPr>
          <a:lstStyle/>
          <a:p>
            <a:pPr>
              <a:spcAft>
                <a:spcPts val="1200"/>
              </a:spcAft>
            </a:pPr>
            <a:r>
              <a:rPr sz="1400" b="1" i="0">
                <a:solidFill>
                  <a:srgbClr val="8B0000"/>
                </a:solidFill>
                <a:latin typeface="Georgia"/>
              </a:rPr>
              <a:t>THE LIMIT OF STANDARD GPS NAVIGATION
</a:t>
            </a:r>
            <a:r>
              <a:rPr sz="1100" b="0" i="0">
                <a:solidFill>
                  <a:srgbClr val="1F1612"/>
                </a:solidFill>
                <a:latin typeface="Verdana"/>
              </a:rPr>
              <a:t>Traditional routing frameworks like Google Maps operate on a single metric—optimizing solely for travel time or distance. They model the environment as a static graph, assuming all users are identical, ignoring personal budgets, and operating blind to environmental context.</a:t>
            </a:r>
          </a:p>
          <a:p>
            <a:pPr>
              <a:spcAft>
                <a:spcPts val="1200"/>
              </a:spcAft>
            </a:pPr>
            <a:r>
              <a:rPr sz="1400" b="1" i="0">
                <a:solidFill>
                  <a:srgbClr val="008080"/>
                </a:solidFill>
                <a:latin typeface="Georgia"/>
              </a:rPr>
              <a:t>ENVIRONMENTAL &amp; SAFETY BLIND SPOTS
</a:t>
            </a:r>
            <a:r>
              <a:rPr sz="1100" b="0" i="0">
                <a:solidFill>
                  <a:srgbClr val="1F1612"/>
                </a:solidFill>
                <a:latin typeface="Verdana"/>
              </a:rPr>
              <a:t>Legacy systems do not adapt to real-world context. Extreme weather dictates whether outdoor venues should be replaced with indoor alternatives, while nighttime safety parameters should actively redirect travelers away from poorly-lit backstreets regardless of geographic distance.</a:t>
            </a:r>
          </a:p>
          <a:p>
            <a:r>
              <a:rPr sz="1400" b="1" i="0">
                <a:solidFill>
                  <a:srgbClr val="D4AF37"/>
                </a:solidFill>
                <a:latin typeface="Georgia"/>
              </a:rPr>
              <a:t>THE PERSONALISATION GAP
</a:t>
            </a:r>
            <a:r>
              <a:rPr sz="1100" b="0" i="0">
                <a:solidFill>
                  <a:srgbClr val="1F1612"/>
                </a:solidFill>
                <a:latin typeface="Verdana"/>
              </a:rPr>
              <a:t>A single route does not fit all. A budget-conscious traveler demands short detour thresholds and low-cost entries, while a luxury traveler prioritizes high ratings and exclusive categories. We require an intelligent agent that reconciles environmental states with distinct user utility profiles.</a:t>
            </a:r>
          </a:p>
        </p:txBody>
      </p:sp>
      <p:pic>
        <p:nvPicPr>
          <p:cNvPr id="6" name="Picture 5" descr="route_comparison_light.png"/>
          <p:cNvPicPr>
            <a:picLocks noChangeAspect="1"/>
          </p:cNvPicPr>
          <p:nvPr/>
        </p:nvPicPr>
        <p:blipFill>
          <a:blip r:embed="rId3"/>
          <a:stretch>
            <a:fillRect/>
          </a:stretch>
        </p:blipFill>
        <p:spPr>
          <a:xfrm>
            <a:off x="6217920" y="1371600"/>
            <a:ext cx="5486400" cy="4114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65760"/>
            <a:ext cx="11277295" cy="731520"/>
          </a:xfrm>
          <a:prstGeom prst="rect">
            <a:avLst/>
          </a:prstGeom>
          <a:noFill/>
        </p:spPr>
        <p:txBody>
          <a:bodyPr wrap="square" tIns="91440" bIns="91440">
            <a:spAutoFit/>
          </a:bodyPr>
          <a:lstStyle/>
          <a:p>
            <a:pPr>
              <a:spcAft>
                <a:spcPts val="200"/>
              </a:spcAft>
            </a:pPr>
            <a:r>
              <a:rPr sz="1000" b="1" i="0">
                <a:solidFill>
                  <a:srgbClr val="008080"/>
                </a:solidFill>
                <a:latin typeface="Verdana"/>
              </a:rPr>
              <a:t>SYSTEM DESIGN  |  </a:t>
            </a:r>
            <a:r>
              <a:rPr sz="2400" b="1" i="0">
                <a:solidFill>
                  <a:srgbClr val="1F1612"/>
                </a:solidFill>
                <a:latin typeface="Georgia"/>
              </a:rPr>
              <a:t>Decoupled Multi-Layered Pipeline: System Architecture</a:t>
            </a:r>
          </a:p>
        </p:txBody>
      </p:sp>
      <p:sp>
        <p:nvSpPr>
          <p:cNvPr id="4" name="Rectangle 3"/>
          <p:cNvSpPr/>
          <p:nvPr/>
        </p:nvSpPr>
        <p:spPr>
          <a:xfrm>
            <a:off x="457200" y="105156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63040"/>
            <a:ext cx="2011680" cy="4389120"/>
          </a:xfrm>
          <a:prstGeom prst="roundRect">
            <a:avLst/>
          </a:prstGeom>
          <a:solidFill>
            <a:srgbClr val="F5EFE3"/>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554480"/>
            <a:ext cx="1920240" cy="4206240"/>
          </a:xfrm>
          <a:prstGeom prst="rect">
            <a:avLst/>
          </a:prstGeom>
          <a:noFill/>
        </p:spPr>
        <p:txBody>
          <a:bodyPr wrap="square">
            <a:spAutoFit/>
          </a:bodyPr>
          <a:lstStyle/>
          <a:p>
            <a:pPr>
              <a:spcAft>
                <a:spcPts val="400"/>
              </a:spcAft>
            </a:pPr>
            <a:r>
              <a:rPr sz="1400" b="1" i="0">
                <a:solidFill>
                  <a:srgbClr val="1F1612"/>
                </a:solidFill>
                <a:latin typeface="Georgia"/>
              </a:rPr>
              <a:t>1. Data Ingest
</a:t>
            </a:r>
          </a:p>
          <a:p>
            <a:pPr>
              <a:spcAft>
                <a:spcPts val="200"/>
              </a:spcAft>
            </a:pPr>
            <a:r>
              <a:rPr sz="900" b="1" i="0">
                <a:solidFill>
                  <a:srgbClr val="008080"/>
                </a:solidFill>
                <a:latin typeface="Verdana"/>
              </a:rPr>
              <a:t>GEOSPATIAL DATA
</a:t>
            </a:r>
            <a:r>
              <a:rPr sz="900" b="0" i="1">
                <a:solidFill>
                  <a:srgbClr val="708090"/>
                </a:solidFill>
                <a:latin typeface="Verdana"/>
              </a:rPr>
              <a:t>OSMnx Wrapper
</a:t>
            </a:r>
          </a:p>
          <a:p>
            <a:pPr>
              <a:spcBef>
                <a:spcPts val="400"/>
              </a:spcBef>
              <a:spcAft>
                <a:spcPts val="800"/>
              </a:spcAft>
            </a:pPr>
            <a:r>
              <a:rPr sz="800" b="0" i="0">
                <a:solidFill>
                  <a:srgbClr val="D4AF37"/>
                </a:solidFill>
                <a:latin typeface="Verdana"/>
              </a:rPr>
              <a:t>———————————————</a:t>
            </a:r>
          </a:p>
          <a:p>
            <a:r>
              <a:rPr sz="900" b="0" i="0">
                <a:solidFill>
                  <a:srgbClr val="1F1612"/>
                </a:solidFill>
                <a:latin typeface="Verdana"/>
              </a:rPr>
              <a:t>Downloads the raw road network nodes and edges dynamically via Overpass API.</a:t>
            </a:r>
          </a:p>
        </p:txBody>
      </p:sp>
      <p:sp>
        <p:nvSpPr>
          <p:cNvPr id="7" name="Rounded Rectangle 6"/>
          <p:cNvSpPr/>
          <p:nvPr/>
        </p:nvSpPr>
        <p:spPr>
          <a:xfrm>
            <a:off x="2679192" y="1463040"/>
            <a:ext cx="2011680" cy="4389120"/>
          </a:xfrm>
          <a:prstGeom prst="roundRect">
            <a:avLst/>
          </a:prstGeom>
          <a:solidFill>
            <a:srgbClr val="F5EFE3"/>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24912" y="1554480"/>
            <a:ext cx="1920240" cy="4206240"/>
          </a:xfrm>
          <a:prstGeom prst="rect">
            <a:avLst/>
          </a:prstGeom>
          <a:noFill/>
        </p:spPr>
        <p:txBody>
          <a:bodyPr wrap="square">
            <a:spAutoFit/>
          </a:bodyPr>
          <a:lstStyle/>
          <a:p>
            <a:pPr>
              <a:spcAft>
                <a:spcPts val="400"/>
              </a:spcAft>
            </a:pPr>
            <a:r>
              <a:rPr sz="1400" b="1" i="0">
                <a:solidFill>
                  <a:srgbClr val="1F1612"/>
                </a:solidFill>
                <a:latin typeface="Georgia"/>
              </a:rPr>
              <a:t>2. Rule Reasoner
</a:t>
            </a:r>
          </a:p>
          <a:p>
            <a:pPr>
              <a:spcAft>
                <a:spcPts val="200"/>
              </a:spcAft>
            </a:pPr>
            <a:r>
              <a:rPr sz="900" b="1" i="0">
                <a:solidFill>
                  <a:srgbClr val="008080"/>
                </a:solidFill>
                <a:latin typeface="Verdana"/>
              </a:rPr>
              <a:t>SYMBOLIC AI
</a:t>
            </a:r>
            <a:r>
              <a:rPr sz="900" b="0" i="1">
                <a:solidFill>
                  <a:srgbClr val="708090"/>
                </a:solidFill>
                <a:latin typeface="Verdana"/>
              </a:rPr>
              <a:t>Knowledge Rep.
</a:t>
            </a:r>
          </a:p>
          <a:p>
            <a:pPr>
              <a:spcBef>
                <a:spcPts val="400"/>
              </a:spcBef>
              <a:spcAft>
                <a:spcPts val="800"/>
              </a:spcAft>
            </a:pPr>
            <a:r>
              <a:rPr sz="800" b="0" i="0">
                <a:solidFill>
                  <a:srgbClr val="D4AF37"/>
                </a:solidFill>
                <a:latin typeface="Verdana"/>
              </a:rPr>
              <a:t>———————————————</a:t>
            </a:r>
          </a:p>
          <a:p>
            <a:r>
              <a:rPr sz="900" b="0" i="0">
                <a:solidFill>
                  <a:srgbClr val="1F1612"/>
                </a:solidFill>
                <a:latin typeface="Verdana"/>
              </a:rPr>
              <a:t>Modifies edge weights on the graph based on weather and safety constraints.</a:t>
            </a:r>
          </a:p>
        </p:txBody>
      </p:sp>
      <p:sp>
        <p:nvSpPr>
          <p:cNvPr id="9" name="Rounded Rectangle 8"/>
          <p:cNvSpPr/>
          <p:nvPr/>
        </p:nvSpPr>
        <p:spPr>
          <a:xfrm>
            <a:off x="4901184" y="1463040"/>
            <a:ext cx="2011680" cy="4389120"/>
          </a:xfrm>
          <a:prstGeom prst="roundRect">
            <a:avLst/>
          </a:prstGeom>
          <a:solidFill>
            <a:srgbClr val="F5EFE3"/>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46904" y="1554480"/>
            <a:ext cx="1920240" cy="4206240"/>
          </a:xfrm>
          <a:prstGeom prst="rect">
            <a:avLst/>
          </a:prstGeom>
          <a:noFill/>
        </p:spPr>
        <p:txBody>
          <a:bodyPr wrap="square">
            <a:spAutoFit/>
          </a:bodyPr>
          <a:lstStyle/>
          <a:p>
            <a:pPr>
              <a:spcAft>
                <a:spcPts val="400"/>
              </a:spcAft>
            </a:pPr>
            <a:r>
              <a:rPr sz="1400" b="1" i="0">
                <a:solidFill>
                  <a:srgbClr val="1F1612"/>
                </a:solidFill>
                <a:latin typeface="Georgia"/>
              </a:rPr>
              <a:t>3. Graph Search
</a:t>
            </a:r>
          </a:p>
          <a:p>
            <a:pPr>
              <a:spcAft>
                <a:spcPts val="200"/>
              </a:spcAft>
            </a:pPr>
            <a:r>
              <a:rPr sz="900" b="1" i="0">
                <a:solidFill>
                  <a:srgbClr val="008080"/>
                </a:solidFill>
                <a:latin typeface="Verdana"/>
              </a:rPr>
              <a:t>HEURISTIC SEARCH
</a:t>
            </a:r>
            <a:r>
              <a:rPr sz="900" b="0" i="1">
                <a:solidFill>
                  <a:srgbClr val="708090"/>
                </a:solidFill>
                <a:latin typeface="Verdana"/>
              </a:rPr>
              <a:t>A* Algorithm
</a:t>
            </a:r>
          </a:p>
          <a:p>
            <a:pPr>
              <a:spcBef>
                <a:spcPts val="400"/>
              </a:spcBef>
              <a:spcAft>
                <a:spcPts val="800"/>
              </a:spcAft>
            </a:pPr>
            <a:r>
              <a:rPr sz="800" b="0" i="0">
                <a:solidFill>
                  <a:srgbClr val="D4AF37"/>
                </a:solidFill>
                <a:latin typeface="Verdana"/>
              </a:rPr>
              <a:t>———————————————</a:t>
            </a:r>
          </a:p>
          <a:p>
            <a:r>
              <a:rPr sz="900" b="0" i="0">
                <a:solidFill>
                  <a:srgbClr val="1F1612"/>
                </a:solidFill>
                <a:latin typeface="Verdana"/>
              </a:rPr>
              <a:t>Executes targeted A* pathfinding using the mathematically admissible Haversine metric.</a:t>
            </a:r>
          </a:p>
        </p:txBody>
      </p:sp>
      <p:sp>
        <p:nvSpPr>
          <p:cNvPr id="11" name="Rounded Rectangle 10"/>
          <p:cNvSpPr/>
          <p:nvPr/>
        </p:nvSpPr>
        <p:spPr>
          <a:xfrm>
            <a:off x="7123176" y="1463040"/>
            <a:ext cx="2011680" cy="4389120"/>
          </a:xfrm>
          <a:prstGeom prst="roundRect">
            <a:avLst/>
          </a:prstGeom>
          <a:solidFill>
            <a:srgbClr val="F5EFE3"/>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68896" y="1554480"/>
            <a:ext cx="1920240" cy="4206240"/>
          </a:xfrm>
          <a:prstGeom prst="rect">
            <a:avLst/>
          </a:prstGeom>
          <a:noFill/>
        </p:spPr>
        <p:txBody>
          <a:bodyPr wrap="square">
            <a:spAutoFit/>
          </a:bodyPr>
          <a:lstStyle/>
          <a:p>
            <a:pPr>
              <a:spcAft>
                <a:spcPts val="400"/>
              </a:spcAft>
            </a:pPr>
            <a:r>
              <a:rPr sz="1400" b="1" i="0">
                <a:solidFill>
                  <a:srgbClr val="1F1612"/>
                </a:solidFill>
                <a:latin typeface="Georgia"/>
              </a:rPr>
              <a:t>4. POI Classifier
</a:t>
            </a:r>
          </a:p>
          <a:p>
            <a:pPr>
              <a:spcAft>
                <a:spcPts val="200"/>
              </a:spcAft>
            </a:pPr>
            <a:r>
              <a:rPr sz="900" b="1" i="0">
                <a:solidFill>
                  <a:srgbClr val="008080"/>
                </a:solidFill>
                <a:latin typeface="Verdana"/>
              </a:rPr>
              <a:t>STATISTICAL AI
</a:t>
            </a:r>
            <a:r>
              <a:rPr sz="900" b="0" i="1">
                <a:solidFill>
                  <a:srgbClr val="708090"/>
                </a:solidFill>
                <a:latin typeface="Verdana"/>
              </a:rPr>
              <a:t>Personalisation
</a:t>
            </a:r>
          </a:p>
          <a:p>
            <a:pPr>
              <a:spcBef>
                <a:spcPts val="400"/>
              </a:spcBef>
              <a:spcAft>
                <a:spcPts val="800"/>
              </a:spcAft>
            </a:pPr>
            <a:r>
              <a:rPr sz="800" b="0" i="0">
                <a:solidFill>
                  <a:srgbClr val="D4AF37"/>
                </a:solidFill>
                <a:latin typeface="Verdana"/>
              </a:rPr>
              <a:t>———————————————</a:t>
            </a:r>
          </a:p>
          <a:p>
            <a:r>
              <a:rPr sz="900" b="0" i="0">
                <a:solidFill>
                  <a:srgbClr val="1F1612"/>
                </a:solidFill>
                <a:latin typeface="Verdana"/>
              </a:rPr>
              <a:t>Applies machine-learned Decision Trees to score, filter, and rank custom POIs.</a:t>
            </a:r>
          </a:p>
        </p:txBody>
      </p:sp>
      <p:sp>
        <p:nvSpPr>
          <p:cNvPr id="13" name="Rounded Rectangle 12"/>
          <p:cNvSpPr/>
          <p:nvPr/>
        </p:nvSpPr>
        <p:spPr>
          <a:xfrm>
            <a:off x="9345168" y="1463040"/>
            <a:ext cx="2011680" cy="4389120"/>
          </a:xfrm>
          <a:prstGeom prst="roundRect">
            <a:avLst/>
          </a:prstGeom>
          <a:solidFill>
            <a:srgbClr val="F5EFE3"/>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90888" y="1554480"/>
            <a:ext cx="1920240" cy="4206240"/>
          </a:xfrm>
          <a:prstGeom prst="rect">
            <a:avLst/>
          </a:prstGeom>
          <a:noFill/>
        </p:spPr>
        <p:txBody>
          <a:bodyPr wrap="square">
            <a:spAutoFit/>
          </a:bodyPr>
          <a:lstStyle/>
          <a:p>
            <a:pPr>
              <a:spcAft>
                <a:spcPts val="400"/>
              </a:spcAft>
            </a:pPr>
            <a:r>
              <a:rPr sz="1400" b="1" i="0">
                <a:solidFill>
                  <a:srgbClr val="1F1612"/>
                </a:solidFill>
                <a:latin typeface="Georgia"/>
              </a:rPr>
              <a:t>5. Path Solver
</a:t>
            </a:r>
          </a:p>
          <a:p>
            <a:pPr>
              <a:spcAft>
                <a:spcPts val="200"/>
              </a:spcAft>
            </a:pPr>
            <a:r>
              <a:rPr sz="900" b="1" i="0">
                <a:solidFill>
                  <a:srgbClr val="008080"/>
                </a:solidFill>
                <a:latin typeface="Verdana"/>
              </a:rPr>
              <a:t>COMBINATORIAL OPT.
</a:t>
            </a:r>
            <a:r>
              <a:rPr sz="900" b="0" i="1">
                <a:solidFill>
                  <a:srgbClr val="708090"/>
                </a:solidFill>
                <a:latin typeface="Verdana"/>
              </a:rPr>
              <a:t>TSP Solver
</a:t>
            </a:r>
          </a:p>
          <a:p>
            <a:pPr>
              <a:spcBef>
                <a:spcPts val="400"/>
              </a:spcBef>
              <a:spcAft>
                <a:spcPts val="800"/>
              </a:spcAft>
            </a:pPr>
            <a:r>
              <a:rPr sz="800" b="0" i="0">
                <a:solidFill>
                  <a:srgbClr val="D4AF37"/>
                </a:solidFill>
                <a:latin typeface="Verdana"/>
              </a:rPr>
              <a:t>———————————————</a:t>
            </a:r>
          </a:p>
          <a:p>
            <a:r>
              <a:rPr sz="900" b="0" i="0">
                <a:solidFill>
                  <a:srgbClr val="1F1612"/>
                </a:solidFill>
                <a:latin typeface="Verdana"/>
              </a:rPr>
              <a:t>Solves Travelling Salesperson permutation sequences for selected destinations.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65760"/>
            <a:ext cx="11277295" cy="731520"/>
          </a:xfrm>
          <a:prstGeom prst="rect">
            <a:avLst/>
          </a:prstGeom>
          <a:noFill/>
        </p:spPr>
        <p:txBody>
          <a:bodyPr wrap="square" tIns="91440" bIns="91440">
            <a:spAutoFit/>
          </a:bodyPr>
          <a:lstStyle/>
          <a:p>
            <a:pPr>
              <a:spcAft>
                <a:spcPts val="200"/>
              </a:spcAft>
            </a:pPr>
            <a:r>
              <a:rPr sz="1000" b="1" i="0">
                <a:solidFill>
                  <a:srgbClr val="008080"/>
                </a:solidFill>
                <a:latin typeface="Verdana"/>
              </a:rPr>
              <a:t>ALGORITHM COMPARISON  |  </a:t>
            </a:r>
            <a:r>
              <a:rPr sz="2400" b="1" i="0">
                <a:solidFill>
                  <a:srgbClr val="1F1612"/>
                </a:solidFill>
                <a:latin typeface="Georgia"/>
              </a:rPr>
              <a:t>Empirical Validation: Pathfinding Search Space Reduction</a:t>
            </a:r>
          </a:p>
        </p:txBody>
      </p:sp>
      <p:sp>
        <p:nvSpPr>
          <p:cNvPr id="4" name="Rectangle 3"/>
          <p:cNvSpPr/>
          <p:nvPr/>
        </p:nvSpPr>
        <p:spPr>
          <a:xfrm>
            <a:off x="457200" y="1320499"/>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457200" y="1645920"/>
          <a:ext cx="5486400" cy="41148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685800">
                <a:tc>
                  <a:txBody>
                    <a:bodyPr/>
                    <a:lstStyle/>
                    <a:p>
                      <a:r>
                        <a:rPr sz="1100" b="1" i="0">
                          <a:solidFill>
                            <a:srgbClr val="FFFFFF"/>
                          </a:solidFill>
                          <a:latin typeface="Verdana"/>
                        </a:rPr>
                        <a:t>Evaluation Metric</a:t>
                      </a:r>
                    </a:p>
                  </a:txBody>
                  <a:tcPr>
                    <a:solidFill>
                      <a:srgbClr val="008080"/>
                    </a:solidFill>
                  </a:tcPr>
                </a:tc>
                <a:tc>
                  <a:txBody>
                    <a:bodyPr/>
                    <a:lstStyle/>
                    <a:p>
                      <a:r>
                        <a:rPr sz="1100" b="1" i="0">
                          <a:solidFill>
                            <a:srgbClr val="FFFFFF"/>
                          </a:solidFill>
                          <a:latin typeface="Verdana"/>
                        </a:rPr>
                        <a:t>Dijkstra (Baseline)</a:t>
                      </a:r>
                    </a:p>
                  </a:txBody>
                  <a:tcPr>
                    <a:solidFill>
                      <a:srgbClr val="008080"/>
                    </a:solidFill>
                  </a:tcPr>
                </a:tc>
                <a:tc>
                  <a:txBody>
                    <a:bodyPr/>
                    <a:lstStyle/>
                    <a:p>
                      <a:r>
                        <a:rPr sz="1100" b="1" i="0">
                          <a:solidFill>
                            <a:srgbClr val="FFFFFF"/>
                          </a:solidFill>
                          <a:latin typeface="Verdana"/>
                        </a:rPr>
                        <a:t>A* (Haversine)</a:t>
                      </a:r>
                    </a:p>
                  </a:txBody>
                  <a:tcPr>
                    <a:solidFill>
                      <a:srgbClr val="008080"/>
                    </a:solidFill>
                  </a:tcPr>
                </a:tc>
                <a:extLst>
                  <a:ext uri="{0D108BD9-81ED-4DB2-BD59-A6C34878D82A}">
                    <a16:rowId xmlns:a16="http://schemas.microsoft.com/office/drawing/2014/main" val="10000"/>
                  </a:ext>
                </a:extLst>
              </a:tr>
              <a:tr h="685800">
                <a:tc>
                  <a:txBody>
                    <a:bodyPr/>
                    <a:lstStyle/>
                    <a:p>
                      <a:r>
                        <a:rPr sz="1000" b="1" i="0">
                          <a:solidFill>
                            <a:srgbClr val="1F1612"/>
                          </a:solidFill>
                          <a:latin typeface="Verdana"/>
                        </a:rPr>
                        <a:t>Path Distance</a:t>
                      </a:r>
                    </a:p>
                  </a:txBody>
                  <a:tcPr>
                    <a:solidFill>
                      <a:srgbClr val="F5EFE3"/>
                    </a:solidFill>
                  </a:tcPr>
                </a:tc>
                <a:tc>
                  <a:txBody>
                    <a:bodyPr/>
                    <a:lstStyle/>
                    <a:p>
                      <a:r>
                        <a:rPr sz="1000" b="0" i="0">
                          <a:solidFill>
                            <a:srgbClr val="1F1612"/>
                          </a:solidFill>
                          <a:latin typeface="Verdana"/>
                        </a:rPr>
                        <a:t>4.76 km</a:t>
                      </a:r>
                    </a:p>
                  </a:txBody>
                  <a:tcPr>
                    <a:solidFill>
                      <a:srgbClr val="F5EFE3"/>
                    </a:solidFill>
                  </a:tcPr>
                </a:tc>
                <a:tc>
                  <a:txBody>
                    <a:bodyPr/>
                    <a:lstStyle/>
                    <a:p>
                      <a:r>
                        <a:rPr sz="1000" b="0" i="0">
                          <a:solidFill>
                            <a:srgbClr val="1F1612"/>
                          </a:solidFill>
                          <a:latin typeface="Verdana"/>
                        </a:rPr>
                        <a:t>4.76 km</a:t>
                      </a:r>
                    </a:p>
                  </a:txBody>
                  <a:tcPr>
                    <a:solidFill>
                      <a:srgbClr val="F5EFE3"/>
                    </a:solidFill>
                  </a:tcPr>
                </a:tc>
                <a:extLst>
                  <a:ext uri="{0D108BD9-81ED-4DB2-BD59-A6C34878D82A}">
                    <a16:rowId xmlns:a16="http://schemas.microsoft.com/office/drawing/2014/main" val="10001"/>
                  </a:ext>
                </a:extLst>
              </a:tr>
              <a:tr h="685800">
                <a:tc>
                  <a:txBody>
                    <a:bodyPr/>
                    <a:lstStyle/>
                    <a:p>
                      <a:r>
                        <a:rPr sz="1000" b="1" i="0">
                          <a:solidFill>
                            <a:srgbClr val="1F1612"/>
                          </a:solidFill>
                          <a:latin typeface="Verdana"/>
                        </a:rPr>
                        <a:t>Estimated Travel Time</a:t>
                      </a:r>
                    </a:p>
                  </a:txBody>
                  <a:tcPr>
                    <a:solidFill>
                      <a:srgbClr val="FDFBF7"/>
                    </a:solidFill>
                  </a:tcPr>
                </a:tc>
                <a:tc>
                  <a:txBody>
                    <a:bodyPr/>
                    <a:lstStyle/>
                    <a:p>
                      <a:r>
                        <a:rPr sz="1000" b="0" i="0">
                          <a:solidFill>
                            <a:srgbClr val="1F1612"/>
                          </a:solidFill>
                          <a:latin typeface="Verdana"/>
                        </a:rPr>
                        <a:t>4.77 minutes</a:t>
                      </a:r>
                    </a:p>
                  </a:txBody>
                  <a:tcPr>
                    <a:solidFill>
                      <a:srgbClr val="FDFBF7"/>
                    </a:solidFill>
                  </a:tcPr>
                </a:tc>
                <a:tc>
                  <a:txBody>
                    <a:bodyPr/>
                    <a:lstStyle/>
                    <a:p>
                      <a:r>
                        <a:rPr sz="1000" b="0" i="0">
                          <a:solidFill>
                            <a:srgbClr val="1F1612"/>
                          </a:solidFill>
                          <a:latin typeface="Verdana"/>
                        </a:rPr>
                        <a:t>4.77 minutes</a:t>
                      </a:r>
                    </a:p>
                  </a:txBody>
                  <a:tcPr>
                    <a:solidFill>
                      <a:srgbClr val="FDFBF7"/>
                    </a:solidFill>
                  </a:tcPr>
                </a:tc>
                <a:extLst>
                  <a:ext uri="{0D108BD9-81ED-4DB2-BD59-A6C34878D82A}">
                    <a16:rowId xmlns:a16="http://schemas.microsoft.com/office/drawing/2014/main" val="10002"/>
                  </a:ext>
                </a:extLst>
              </a:tr>
              <a:tr h="685800">
                <a:tc>
                  <a:txBody>
                    <a:bodyPr/>
                    <a:lstStyle/>
                    <a:p>
                      <a:r>
                        <a:rPr sz="1000" b="1" i="0">
                          <a:solidFill>
                            <a:srgbClr val="1F1612"/>
                          </a:solidFill>
                          <a:latin typeface="Verdana"/>
                        </a:rPr>
                        <a:t>Nodes Expanded</a:t>
                      </a:r>
                    </a:p>
                  </a:txBody>
                  <a:tcPr>
                    <a:solidFill>
                      <a:srgbClr val="F5EFE3"/>
                    </a:solidFill>
                  </a:tcPr>
                </a:tc>
                <a:tc>
                  <a:txBody>
                    <a:bodyPr/>
                    <a:lstStyle/>
                    <a:p>
                      <a:r>
                        <a:rPr sz="1000" b="1" i="0">
                          <a:solidFill>
                            <a:srgbClr val="1F1612"/>
                          </a:solidFill>
                          <a:latin typeface="Verdana"/>
                        </a:rPr>
                        <a:t>1,809 nodes</a:t>
                      </a:r>
                    </a:p>
                  </a:txBody>
                  <a:tcPr>
                    <a:solidFill>
                      <a:srgbClr val="F5EFE3"/>
                    </a:solidFill>
                  </a:tcPr>
                </a:tc>
                <a:tc>
                  <a:txBody>
                    <a:bodyPr/>
                    <a:lstStyle/>
                    <a:p>
                      <a:r>
                        <a:rPr sz="1000" b="1" i="0">
                          <a:solidFill>
                            <a:srgbClr val="008080"/>
                          </a:solidFill>
                          <a:latin typeface="Verdana"/>
                        </a:rPr>
                        <a:t>87 nodes</a:t>
                      </a:r>
                    </a:p>
                  </a:txBody>
                  <a:tcPr>
                    <a:solidFill>
                      <a:srgbClr val="F5EFE3"/>
                    </a:solidFill>
                  </a:tcPr>
                </a:tc>
                <a:extLst>
                  <a:ext uri="{0D108BD9-81ED-4DB2-BD59-A6C34878D82A}">
                    <a16:rowId xmlns:a16="http://schemas.microsoft.com/office/drawing/2014/main" val="10003"/>
                  </a:ext>
                </a:extLst>
              </a:tr>
              <a:tr h="685800">
                <a:tc>
                  <a:txBody>
                    <a:bodyPr/>
                    <a:lstStyle/>
                    <a:p>
                      <a:r>
                        <a:rPr sz="1000" b="1" i="0">
                          <a:solidFill>
                            <a:srgbClr val="1F1612"/>
                          </a:solidFill>
                          <a:latin typeface="Verdana"/>
                        </a:rPr>
                        <a:t>Search Space Reduction</a:t>
                      </a:r>
                    </a:p>
                  </a:txBody>
                  <a:tcPr>
                    <a:solidFill>
                      <a:srgbClr val="FDFBF7"/>
                    </a:solidFill>
                  </a:tcPr>
                </a:tc>
                <a:tc>
                  <a:txBody>
                    <a:bodyPr/>
                    <a:lstStyle/>
                    <a:p>
                      <a:r>
                        <a:rPr sz="1000" b="0" i="0">
                          <a:solidFill>
                            <a:srgbClr val="1F1612"/>
                          </a:solidFill>
                          <a:latin typeface="Verdana"/>
                        </a:rPr>
                        <a:t>Baseline (0%)</a:t>
                      </a:r>
                    </a:p>
                  </a:txBody>
                  <a:tcPr>
                    <a:solidFill>
                      <a:srgbClr val="FDFBF7"/>
                    </a:solidFill>
                  </a:tcPr>
                </a:tc>
                <a:tc>
                  <a:txBody>
                    <a:bodyPr/>
                    <a:lstStyle/>
                    <a:p>
                      <a:r>
                        <a:rPr sz="1000" b="0" i="0">
                          <a:solidFill>
                            <a:srgbClr val="1F1612"/>
                          </a:solidFill>
                          <a:latin typeface="Verdana"/>
                        </a:rPr>
                        <a:t>95.2% Reduction</a:t>
                      </a:r>
                    </a:p>
                  </a:txBody>
                  <a:tcPr>
                    <a:solidFill>
                      <a:srgbClr val="FDFBF7"/>
                    </a:solidFill>
                  </a:tcPr>
                </a:tc>
                <a:extLst>
                  <a:ext uri="{0D108BD9-81ED-4DB2-BD59-A6C34878D82A}">
                    <a16:rowId xmlns:a16="http://schemas.microsoft.com/office/drawing/2014/main" val="10004"/>
                  </a:ext>
                </a:extLst>
              </a:tr>
              <a:tr h="685800">
                <a:tc>
                  <a:txBody>
                    <a:bodyPr/>
                    <a:lstStyle/>
                    <a:p>
                      <a:r>
                        <a:rPr sz="1000" b="1" i="0">
                          <a:solidFill>
                            <a:srgbClr val="1F1612"/>
                          </a:solidFill>
                          <a:latin typeface="Verdana"/>
                        </a:rPr>
                        <a:t>Mathematical Optimality</a:t>
                      </a:r>
                    </a:p>
                  </a:txBody>
                  <a:tcPr>
                    <a:solidFill>
                      <a:srgbClr val="F5EFE3"/>
                    </a:solidFill>
                  </a:tcPr>
                </a:tc>
                <a:tc>
                  <a:txBody>
                    <a:bodyPr/>
                    <a:lstStyle/>
                    <a:p>
                      <a:r>
                        <a:rPr sz="1000" b="0" i="0">
                          <a:solidFill>
                            <a:srgbClr val="1F1612"/>
                          </a:solidFill>
                          <a:latin typeface="Verdana"/>
                        </a:rPr>
                        <a:t>Guaranteed</a:t>
                      </a:r>
                    </a:p>
                  </a:txBody>
                  <a:tcPr>
                    <a:solidFill>
                      <a:srgbClr val="F5EFE3"/>
                    </a:solidFill>
                  </a:tcPr>
                </a:tc>
                <a:tc>
                  <a:txBody>
                    <a:bodyPr/>
                    <a:lstStyle/>
                    <a:p>
                      <a:r>
                        <a:rPr sz="1000" b="0" i="0">
                          <a:solidFill>
                            <a:srgbClr val="1F1612"/>
                          </a:solidFill>
                          <a:latin typeface="Verdana"/>
                        </a:rPr>
                        <a:t>Guaranteed</a:t>
                      </a:r>
                    </a:p>
                  </a:txBody>
                  <a:tcPr>
                    <a:solidFill>
                      <a:srgbClr val="F5EFE3"/>
                    </a:solidFill>
                  </a:tcPr>
                </a:tc>
                <a:extLst>
                  <a:ext uri="{0D108BD9-81ED-4DB2-BD59-A6C34878D82A}">
                    <a16:rowId xmlns:a16="http://schemas.microsoft.com/office/drawing/2014/main" val="10005"/>
                  </a:ext>
                </a:extLst>
              </a:tr>
            </a:tbl>
          </a:graphicData>
        </a:graphic>
      </p:graphicFrame>
      <p:pic>
        <p:nvPicPr>
          <p:cNvPr id="6" name="Picture 5" descr="node_comparison_light.png"/>
          <p:cNvPicPr>
            <a:picLocks noChangeAspect="1"/>
          </p:cNvPicPr>
          <p:nvPr/>
        </p:nvPicPr>
        <p:blipFill>
          <a:blip r:embed="rId3"/>
          <a:stretch>
            <a:fillRect/>
          </a:stretch>
        </p:blipFill>
        <p:spPr>
          <a:xfrm>
            <a:off x="6217920" y="1645920"/>
            <a:ext cx="5486400" cy="411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65760"/>
            <a:ext cx="11277295" cy="731520"/>
          </a:xfrm>
          <a:prstGeom prst="rect">
            <a:avLst/>
          </a:prstGeom>
          <a:noFill/>
        </p:spPr>
        <p:txBody>
          <a:bodyPr wrap="square" tIns="91440" bIns="91440">
            <a:spAutoFit/>
          </a:bodyPr>
          <a:lstStyle/>
          <a:p>
            <a:pPr>
              <a:spcAft>
                <a:spcPts val="200"/>
              </a:spcAft>
            </a:pPr>
            <a:r>
              <a:rPr sz="1000" b="1" i="0" dirty="0">
                <a:solidFill>
                  <a:srgbClr val="008080"/>
                </a:solidFill>
                <a:latin typeface="Verdana"/>
              </a:rPr>
              <a:t>DATASET STRATEGY  |  </a:t>
            </a:r>
            <a:r>
              <a:rPr sz="2400" b="1" i="0" dirty="0">
                <a:solidFill>
                  <a:srgbClr val="1F1612"/>
                </a:solidFill>
                <a:latin typeface="Georgia"/>
              </a:rPr>
              <a:t>Data Harmonization &amp; Supervised Traveler Profiling</a:t>
            </a:r>
          </a:p>
        </p:txBody>
      </p:sp>
      <p:sp>
        <p:nvSpPr>
          <p:cNvPr id="4" name="Rectangle 3"/>
          <p:cNvSpPr/>
          <p:nvPr/>
        </p:nvSpPr>
        <p:spPr>
          <a:xfrm>
            <a:off x="457200" y="105156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ersonalization_features_light.png"/>
          <p:cNvPicPr>
            <a:picLocks noChangeAspect="1"/>
          </p:cNvPicPr>
          <p:nvPr/>
        </p:nvPicPr>
        <p:blipFill>
          <a:blip r:embed="rId3"/>
          <a:stretch>
            <a:fillRect/>
          </a:stretch>
        </p:blipFill>
        <p:spPr>
          <a:xfrm>
            <a:off x="457200" y="1463040"/>
            <a:ext cx="5486400" cy="4114800"/>
          </a:xfrm>
          <a:prstGeom prst="rect">
            <a:avLst/>
          </a:prstGeom>
        </p:spPr>
      </p:pic>
      <p:sp>
        <p:nvSpPr>
          <p:cNvPr id="6" name="TextBox 5"/>
          <p:cNvSpPr txBox="1"/>
          <p:nvPr/>
        </p:nvSpPr>
        <p:spPr>
          <a:xfrm>
            <a:off x="6217920" y="1463040"/>
            <a:ext cx="5486400" cy="4389120"/>
          </a:xfrm>
          <a:prstGeom prst="rect">
            <a:avLst/>
          </a:prstGeom>
          <a:noFill/>
        </p:spPr>
        <p:txBody>
          <a:bodyPr wrap="square">
            <a:spAutoFit/>
          </a:bodyPr>
          <a:lstStyle/>
          <a:p>
            <a:pPr>
              <a:spcAft>
                <a:spcPts val="1000"/>
              </a:spcAft>
            </a:pPr>
            <a:r>
              <a:rPr sz="1400" b="1" i="0">
                <a:solidFill>
                  <a:srgbClr val="008080"/>
                </a:solidFill>
                <a:latin typeface="Georgia"/>
              </a:rPr>
              <a:t>GEOSPATIAL INGESTION &amp; caching
</a:t>
            </a:r>
            <a:r>
              <a:rPr sz="1000" b="0" i="0">
                <a:solidFill>
                  <a:srgbClr val="1F1612"/>
                </a:solidFill>
                <a:latin typeface="Verdana"/>
              </a:rPr>
              <a:t>Raw road attributes, network coordinates, and POI geographic footprints are fetched dynamically from OpenStreetMap's Overpass database using the OSMnx library. Graph data is compiled into networkx MultiDiGraphs and cached locally as .graphml structures to minimize web-bound latency.</a:t>
            </a:r>
          </a:p>
          <a:p>
            <a:pPr>
              <a:spcAft>
                <a:spcPts val="1000"/>
              </a:spcAft>
            </a:pPr>
            <a:r>
              <a:rPr sz="1400" b="1" i="0">
                <a:solidFill>
                  <a:srgbClr val="D4AF37"/>
                </a:solidFill>
                <a:latin typeface="Georgia"/>
              </a:rPr>
              <a:t>10,000 TELEMETRY SAMPLES
</a:t>
            </a:r>
            <a:r>
              <a:rPr sz="1000" b="0" i="0">
                <a:solidFill>
                  <a:srgbClr val="1F1612"/>
                </a:solidFill>
                <a:latin typeface="Verdana"/>
              </a:rPr>
              <a:t>To bypass cold-start issues, we constructed a synthetic data pipeline generating 10,000 user interaction logs. Each record maps numerical inputs: detour_score (normalised travel time penalty), route_distance_score (proximity), category_match_score (relevance), and google_review_score (aggregate traveler sentiment).</a:t>
            </a:r>
          </a:p>
          <a:p>
            <a:r>
              <a:rPr sz="1400" b="1" i="0">
                <a:solidFill>
                  <a:srgbClr val="708090"/>
                </a:solidFill>
                <a:latin typeface="Georgia"/>
              </a:rPr>
              <a:t>PROFILING UTILITY FUNCTIONS
</a:t>
            </a:r>
            <a:r>
              <a:rPr sz="1000" b="0" i="0">
                <a:solidFill>
                  <a:srgbClr val="1F1612"/>
                </a:solidFill>
                <a:latin typeface="Verdana"/>
              </a:rPr>
              <a:t>Supervised classification models (Decision Trees) are trained on custom utility thresholds. As mapped in the chart, 'Budget' profiles heavily penalize detour times (0.8 weight) while ignoring luxury ratings. Conversely, 'Luxury' profiles prioritize high review scores (0.8 weight) and category alignment (0.9 weight), accepting high detours.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65760"/>
            <a:ext cx="11277295" cy="731520"/>
          </a:xfrm>
          <a:prstGeom prst="rect">
            <a:avLst/>
          </a:prstGeom>
          <a:noFill/>
        </p:spPr>
        <p:txBody>
          <a:bodyPr wrap="square" tIns="91440" bIns="91440">
            <a:spAutoFit/>
          </a:bodyPr>
          <a:lstStyle/>
          <a:p>
            <a:pPr>
              <a:spcAft>
                <a:spcPts val="200"/>
              </a:spcAft>
            </a:pPr>
            <a:r>
              <a:rPr sz="1000" b="1" i="0">
                <a:solidFill>
                  <a:srgbClr val="008080"/>
                </a:solidFill>
                <a:latin typeface="Verdana"/>
              </a:rPr>
              <a:t>LIMITATIONS  |  </a:t>
            </a:r>
            <a:r>
              <a:rPr sz="2400" b="1" i="0">
                <a:solidFill>
                  <a:srgbClr val="1F1612"/>
                </a:solidFill>
                <a:latin typeface="Georgia"/>
              </a:rPr>
              <a:t>Academic Self-Critique: Hard Technical Boundaries &amp; Gaps</a:t>
            </a:r>
          </a:p>
        </p:txBody>
      </p:sp>
      <p:sp>
        <p:nvSpPr>
          <p:cNvPr id="4" name="Rectangle 3"/>
          <p:cNvSpPr/>
          <p:nvPr/>
        </p:nvSpPr>
        <p:spPr>
          <a:xfrm>
            <a:off x="457200" y="105156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sp_complexity_light.png"/>
          <p:cNvPicPr>
            <a:picLocks noChangeAspect="1"/>
          </p:cNvPicPr>
          <p:nvPr/>
        </p:nvPicPr>
        <p:blipFill>
          <a:blip r:embed="rId3"/>
          <a:stretch>
            <a:fillRect/>
          </a:stretch>
        </p:blipFill>
        <p:spPr>
          <a:xfrm>
            <a:off x="457200" y="1463040"/>
            <a:ext cx="5486400" cy="4114800"/>
          </a:xfrm>
          <a:prstGeom prst="rect">
            <a:avLst/>
          </a:prstGeom>
        </p:spPr>
      </p:pic>
      <p:sp>
        <p:nvSpPr>
          <p:cNvPr id="6" name="TextBox 5"/>
          <p:cNvSpPr txBox="1"/>
          <p:nvPr/>
        </p:nvSpPr>
        <p:spPr>
          <a:xfrm>
            <a:off x="6217920" y="1371600"/>
            <a:ext cx="5486400" cy="4846320"/>
          </a:xfrm>
          <a:prstGeom prst="rect">
            <a:avLst/>
          </a:prstGeom>
          <a:noFill/>
        </p:spPr>
        <p:txBody>
          <a:bodyPr wrap="square">
            <a:spAutoFit/>
          </a:bodyPr>
          <a:lstStyle/>
          <a:p>
            <a:pPr>
              <a:spcAft>
                <a:spcPts val="800"/>
              </a:spcAft>
            </a:pPr>
            <a:r>
              <a:rPr sz="1100" b="1" i="0" dirty="0">
                <a:solidFill>
                  <a:srgbClr val="8B0000"/>
                </a:solidFill>
                <a:latin typeface="Georgia"/>
              </a:rPr>
              <a:t>• 1. TSP COMBINATORIAL EXPLOSION
</a:t>
            </a:r>
            <a:r>
              <a:rPr sz="900" b="0" i="0" dirty="0">
                <a:solidFill>
                  <a:srgbClr val="1F1612"/>
                </a:solidFill>
                <a:latin typeface="Verdana"/>
              </a:rPr>
              <a:t>The route sequencer uses an exact permutation solver that scales factorially, O(N!). It is computationally intractable beyond 10 waypoints (3.6 million operations).</a:t>
            </a:r>
          </a:p>
          <a:p>
            <a:pPr>
              <a:spcAft>
                <a:spcPts val="800"/>
              </a:spcAft>
            </a:pPr>
            <a:r>
              <a:rPr sz="1100" b="1" i="0" dirty="0">
                <a:solidFill>
                  <a:srgbClr val="8B0000"/>
                </a:solidFill>
                <a:latin typeface="Georgia"/>
              </a:rPr>
              <a:t>• 2. STATIC ROAD VELOCITY LIMITS
</a:t>
            </a:r>
            <a:r>
              <a:rPr sz="900" b="0" i="0" dirty="0">
                <a:solidFill>
                  <a:srgbClr val="1F1612"/>
                </a:solidFill>
                <a:latin typeface="Verdana"/>
              </a:rPr>
              <a:t>Travel times rely entirely on static OSM speed limits. Symbolic weather rules help simulate traffic, but lack real-time congestion feeds.</a:t>
            </a:r>
          </a:p>
          <a:p>
            <a:pPr>
              <a:spcAft>
                <a:spcPts val="800"/>
              </a:spcAft>
            </a:pPr>
            <a:r>
              <a:rPr sz="1100" b="1" i="0" dirty="0">
                <a:solidFill>
                  <a:srgbClr val="8B0000"/>
                </a:solidFill>
                <a:latin typeface="Georgia"/>
              </a:rPr>
              <a:t>• 3. SYSTEMIC DEVELOPER-CRAFTED BIAS
</a:t>
            </a:r>
            <a:r>
              <a:rPr sz="900" b="0" i="0" dirty="0">
                <a:solidFill>
                  <a:srgbClr val="1F1612"/>
                </a:solidFill>
                <a:latin typeface="Verdana"/>
              </a:rPr>
              <a:t>The machine learning models are trained on synthetic utility functions created by the designer. They reflect developer assumptions rather than empirical user behavior.</a:t>
            </a:r>
          </a:p>
          <a:p>
            <a:pPr>
              <a:spcAft>
                <a:spcPts val="800"/>
              </a:spcAft>
            </a:pPr>
            <a:r>
              <a:rPr sz="1100" b="1" i="0" dirty="0">
                <a:solidFill>
                  <a:srgbClr val="8B0000"/>
                </a:solidFill>
                <a:latin typeface="Georgia"/>
              </a:rPr>
              <a:t>• 4. GEOGRAPHICAL DISPARITY IN OSM
</a:t>
            </a:r>
            <a:r>
              <a:rPr sz="900" b="0" i="0" dirty="0">
                <a:solidFill>
                  <a:srgbClr val="1F1612"/>
                </a:solidFill>
                <a:latin typeface="Verdana"/>
              </a:rPr>
              <a:t>OpenStreetMap is crowdsourced. Densely populated urban centers are richly mapped, while rural, low-income, or developing regions suffer from empty POIs.</a:t>
            </a:r>
          </a:p>
          <a:p>
            <a:pPr>
              <a:spcAft>
                <a:spcPts val="800"/>
              </a:spcAft>
            </a:pPr>
            <a:r>
              <a:rPr sz="1100" b="1" i="0" dirty="0">
                <a:solidFill>
                  <a:srgbClr val="8B0000"/>
                </a:solidFill>
                <a:latin typeface="Georgia"/>
              </a:rPr>
              <a:t>• 5. UNIMODAL VEHICULAR ROUTING
</a:t>
            </a:r>
            <a:r>
              <a:rPr sz="900" b="0" i="0" dirty="0">
                <a:solidFill>
                  <a:srgbClr val="1F1612"/>
                </a:solidFill>
                <a:latin typeface="Verdana"/>
              </a:rPr>
              <a:t>The system assumes a single spatial layer (driving networks), completely omitting pedestrian walkways, cycling infrastructure, and public transit.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65760"/>
            <a:ext cx="11277295" cy="731520"/>
          </a:xfrm>
          <a:prstGeom prst="rect">
            <a:avLst/>
          </a:prstGeom>
          <a:noFill/>
        </p:spPr>
        <p:txBody>
          <a:bodyPr wrap="square" tIns="91440" bIns="91440">
            <a:spAutoFit/>
          </a:bodyPr>
          <a:lstStyle/>
          <a:p>
            <a:pPr>
              <a:spcAft>
                <a:spcPts val="200"/>
              </a:spcAft>
            </a:pPr>
            <a:r>
              <a:rPr sz="1000" b="1" i="0">
                <a:solidFill>
                  <a:srgbClr val="008080"/>
                </a:solidFill>
                <a:latin typeface="Verdana"/>
              </a:rPr>
              <a:t>PROPOSED ENHANCEMENTS  |  </a:t>
            </a:r>
            <a:r>
              <a:rPr sz="2400" b="1" i="0">
                <a:solidFill>
                  <a:srgbClr val="1F1612"/>
                </a:solidFill>
                <a:latin typeface="Georgia"/>
              </a:rPr>
              <a:t>System Optimisation &amp; Inclusive Future Roadmap</a:t>
            </a:r>
          </a:p>
        </p:txBody>
      </p:sp>
      <p:sp>
        <p:nvSpPr>
          <p:cNvPr id="4" name="Rectangle 3"/>
          <p:cNvSpPr/>
          <p:nvPr/>
        </p:nvSpPr>
        <p:spPr>
          <a:xfrm>
            <a:off x="457200" y="105156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63040"/>
            <a:ext cx="3200400" cy="868680"/>
          </a:xfrm>
          <a:prstGeom prst="roundRect">
            <a:avLst/>
          </a:prstGeom>
          <a:solidFill>
            <a:srgbClr val="F5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508760"/>
            <a:ext cx="3108960" cy="777240"/>
          </a:xfrm>
          <a:prstGeom prst="rect">
            <a:avLst/>
          </a:prstGeom>
          <a:noFill/>
        </p:spPr>
        <p:txBody>
          <a:bodyPr wrap="square">
            <a:spAutoFit/>
          </a:bodyPr>
          <a:lstStyle/>
          <a:p>
            <a:pPr>
              <a:spcAft>
                <a:spcPts val="200"/>
              </a:spcAft>
            </a:pPr>
            <a:r>
              <a:rPr sz="800" b="1" i="0">
                <a:solidFill>
                  <a:srgbClr val="8B0000"/>
                </a:solidFill>
                <a:latin typeface="Verdana"/>
              </a:rPr>
              <a:t>BOTTLENECK:
</a:t>
            </a:r>
            <a:r>
              <a:rPr sz="900" b="0" i="0">
                <a:solidFill>
                  <a:srgbClr val="1F1612"/>
                </a:solidFill>
                <a:latin typeface="Verdana"/>
              </a:rPr>
              <a:t>O(N!) TSP Complexity Bottleneck</a:t>
            </a:r>
          </a:p>
        </p:txBody>
      </p:sp>
      <p:sp>
        <p:nvSpPr>
          <p:cNvPr id="7" name="Chevron 6"/>
          <p:cNvSpPr/>
          <p:nvPr/>
        </p:nvSpPr>
        <p:spPr>
          <a:xfrm>
            <a:off x="3794760" y="1691640"/>
            <a:ext cx="365760" cy="411480"/>
          </a:xfrm>
          <a:prstGeom prst="chevron">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97680" y="1463040"/>
            <a:ext cx="7436815" cy="868680"/>
          </a:xfrm>
          <a:prstGeom prst="roundRect">
            <a:avLst/>
          </a:prstGeom>
          <a:solidFill>
            <a:srgbClr val="FFFFFF"/>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43400" y="1508760"/>
            <a:ext cx="7345375" cy="777240"/>
          </a:xfrm>
          <a:prstGeom prst="rect">
            <a:avLst/>
          </a:prstGeom>
          <a:noFill/>
        </p:spPr>
        <p:txBody>
          <a:bodyPr wrap="square">
            <a:spAutoFit/>
          </a:bodyPr>
          <a:lstStyle/>
          <a:p>
            <a:pPr>
              <a:spcAft>
                <a:spcPts val="200"/>
              </a:spcAft>
            </a:pPr>
            <a:r>
              <a:rPr sz="1100" b="1" i="0">
                <a:solidFill>
                  <a:srgbClr val="008080"/>
                </a:solidFill>
                <a:latin typeface="Georgia"/>
              </a:rPr>
              <a:t>GENETIC META-HEURISTICS — </a:t>
            </a:r>
            <a:r>
              <a:rPr sz="900" b="0" i="0">
                <a:solidFill>
                  <a:srgbClr val="1F1612"/>
                </a:solidFill>
                <a:latin typeface="Verdana"/>
              </a:rPr>
              <a:t>Replace exact permutation calculations with approximation algorithms (Genetic Algorithms or Simulated Annealing) to resolve routes for 50+ waypoints in polynomial time, O(N^2).</a:t>
            </a:r>
          </a:p>
        </p:txBody>
      </p:sp>
      <p:sp>
        <p:nvSpPr>
          <p:cNvPr id="10" name="Rounded Rectangle 9"/>
          <p:cNvSpPr/>
          <p:nvPr/>
        </p:nvSpPr>
        <p:spPr>
          <a:xfrm>
            <a:off x="457200" y="2441448"/>
            <a:ext cx="3200400" cy="868680"/>
          </a:xfrm>
          <a:prstGeom prst="roundRect">
            <a:avLst/>
          </a:prstGeom>
          <a:solidFill>
            <a:srgbClr val="F5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487168"/>
            <a:ext cx="3108960" cy="777240"/>
          </a:xfrm>
          <a:prstGeom prst="rect">
            <a:avLst/>
          </a:prstGeom>
          <a:noFill/>
        </p:spPr>
        <p:txBody>
          <a:bodyPr wrap="square">
            <a:spAutoFit/>
          </a:bodyPr>
          <a:lstStyle/>
          <a:p>
            <a:pPr>
              <a:spcAft>
                <a:spcPts val="200"/>
              </a:spcAft>
            </a:pPr>
            <a:r>
              <a:rPr sz="800" b="1" i="0">
                <a:solidFill>
                  <a:srgbClr val="8B0000"/>
                </a:solidFill>
                <a:latin typeface="Verdana"/>
              </a:rPr>
              <a:t>BOTTLENECK:
</a:t>
            </a:r>
            <a:r>
              <a:rPr sz="900" b="0" i="0">
                <a:solidFill>
                  <a:srgbClr val="1F1612"/>
                </a:solidFill>
                <a:latin typeface="Verdana"/>
              </a:rPr>
              <a:t>Static Travel Times</a:t>
            </a:r>
          </a:p>
        </p:txBody>
      </p:sp>
      <p:sp>
        <p:nvSpPr>
          <p:cNvPr id="12" name="Chevron 11"/>
          <p:cNvSpPr/>
          <p:nvPr/>
        </p:nvSpPr>
        <p:spPr>
          <a:xfrm>
            <a:off x="3794760" y="2670048"/>
            <a:ext cx="365760" cy="411480"/>
          </a:xfrm>
          <a:prstGeom prst="chevron">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297680" y="2441448"/>
            <a:ext cx="7436815" cy="868680"/>
          </a:xfrm>
          <a:prstGeom prst="roundRect">
            <a:avLst/>
          </a:prstGeom>
          <a:solidFill>
            <a:srgbClr val="FFFFFF"/>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400" y="2487168"/>
            <a:ext cx="7345375" cy="777240"/>
          </a:xfrm>
          <a:prstGeom prst="rect">
            <a:avLst/>
          </a:prstGeom>
          <a:noFill/>
        </p:spPr>
        <p:txBody>
          <a:bodyPr wrap="square">
            <a:spAutoFit/>
          </a:bodyPr>
          <a:lstStyle/>
          <a:p>
            <a:pPr>
              <a:spcAft>
                <a:spcPts val="200"/>
              </a:spcAft>
            </a:pPr>
            <a:r>
              <a:rPr sz="1100" b="1" i="0">
                <a:solidFill>
                  <a:srgbClr val="008080"/>
                </a:solidFill>
                <a:latin typeface="Georgia"/>
              </a:rPr>
              <a:t>LIVE CONGESTION API INTEGRATION — </a:t>
            </a:r>
            <a:r>
              <a:rPr sz="900" b="0" i="0">
                <a:solidFill>
                  <a:srgbClr val="1F1612"/>
                </a:solidFill>
                <a:latin typeface="Verdana"/>
              </a:rPr>
              <a:t>Integrate active traffic feeds via external APIs (such as Google Distance Matrix or TomTom Traffic) to calculate dynamic edge costs based on real-time traffic speeds.</a:t>
            </a:r>
          </a:p>
        </p:txBody>
      </p:sp>
      <p:sp>
        <p:nvSpPr>
          <p:cNvPr id="15" name="Rounded Rectangle 14"/>
          <p:cNvSpPr/>
          <p:nvPr/>
        </p:nvSpPr>
        <p:spPr>
          <a:xfrm>
            <a:off x="457200" y="3419856"/>
            <a:ext cx="3200400" cy="868680"/>
          </a:xfrm>
          <a:prstGeom prst="roundRect">
            <a:avLst/>
          </a:prstGeom>
          <a:solidFill>
            <a:srgbClr val="F5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465576"/>
            <a:ext cx="3108960" cy="777240"/>
          </a:xfrm>
          <a:prstGeom prst="rect">
            <a:avLst/>
          </a:prstGeom>
          <a:noFill/>
        </p:spPr>
        <p:txBody>
          <a:bodyPr wrap="square">
            <a:spAutoFit/>
          </a:bodyPr>
          <a:lstStyle/>
          <a:p>
            <a:pPr>
              <a:spcAft>
                <a:spcPts val="200"/>
              </a:spcAft>
            </a:pPr>
            <a:r>
              <a:rPr sz="800" b="1" i="0">
                <a:solidFill>
                  <a:srgbClr val="8B0000"/>
                </a:solidFill>
                <a:latin typeface="Verdana"/>
              </a:rPr>
              <a:t>BOTTLENECK:
</a:t>
            </a:r>
            <a:r>
              <a:rPr sz="900" b="0" i="0">
                <a:solidFill>
                  <a:srgbClr val="1F1612"/>
                </a:solidFill>
                <a:latin typeface="Verdana"/>
              </a:rPr>
              <a:t>Synthetic Label Bias</a:t>
            </a:r>
          </a:p>
        </p:txBody>
      </p:sp>
      <p:sp>
        <p:nvSpPr>
          <p:cNvPr id="17" name="Chevron 16"/>
          <p:cNvSpPr/>
          <p:nvPr/>
        </p:nvSpPr>
        <p:spPr>
          <a:xfrm>
            <a:off x="3794760" y="3648456"/>
            <a:ext cx="365760" cy="411480"/>
          </a:xfrm>
          <a:prstGeom prst="chevron">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297680" y="3419856"/>
            <a:ext cx="7436815" cy="868680"/>
          </a:xfrm>
          <a:prstGeom prst="roundRect">
            <a:avLst/>
          </a:prstGeom>
          <a:solidFill>
            <a:srgbClr val="FFFFFF"/>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43400" y="3465576"/>
            <a:ext cx="7345375" cy="777240"/>
          </a:xfrm>
          <a:prstGeom prst="rect">
            <a:avLst/>
          </a:prstGeom>
          <a:noFill/>
        </p:spPr>
        <p:txBody>
          <a:bodyPr wrap="square">
            <a:spAutoFit/>
          </a:bodyPr>
          <a:lstStyle/>
          <a:p>
            <a:pPr>
              <a:spcAft>
                <a:spcPts val="200"/>
              </a:spcAft>
            </a:pPr>
            <a:r>
              <a:rPr sz="1100" b="1" i="0">
                <a:solidFill>
                  <a:srgbClr val="008080"/>
                </a:solidFill>
                <a:latin typeface="Georgia"/>
              </a:rPr>
              <a:t>CLOSED-LOOP USER TELEMETRY — </a:t>
            </a:r>
            <a:r>
              <a:rPr sz="900" b="0" i="0">
                <a:solidFill>
                  <a:srgbClr val="1F1612"/>
                </a:solidFill>
                <a:latin typeface="Verdana"/>
              </a:rPr>
              <a:t>Replace simulated labels with actual empirical click-through telemetry—capturing real-world traveler acceptances and rejections to eliminate developer bias.</a:t>
            </a:r>
          </a:p>
        </p:txBody>
      </p:sp>
      <p:sp>
        <p:nvSpPr>
          <p:cNvPr id="20" name="Rounded Rectangle 19"/>
          <p:cNvSpPr/>
          <p:nvPr/>
        </p:nvSpPr>
        <p:spPr>
          <a:xfrm>
            <a:off x="457200" y="4398264"/>
            <a:ext cx="3200400" cy="868680"/>
          </a:xfrm>
          <a:prstGeom prst="roundRect">
            <a:avLst/>
          </a:prstGeom>
          <a:solidFill>
            <a:srgbClr val="F5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4443984"/>
            <a:ext cx="3108960" cy="777240"/>
          </a:xfrm>
          <a:prstGeom prst="rect">
            <a:avLst/>
          </a:prstGeom>
          <a:noFill/>
        </p:spPr>
        <p:txBody>
          <a:bodyPr wrap="square">
            <a:spAutoFit/>
          </a:bodyPr>
          <a:lstStyle/>
          <a:p>
            <a:pPr>
              <a:spcAft>
                <a:spcPts val="200"/>
              </a:spcAft>
            </a:pPr>
            <a:r>
              <a:rPr sz="800" b="1" i="0">
                <a:solidFill>
                  <a:srgbClr val="8B0000"/>
                </a:solidFill>
                <a:latin typeface="Verdana"/>
              </a:rPr>
              <a:t>BOTTLENECK:
</a:t>
            </a:r>
            <a:r>
              <a:rPr sz="900" b="0" i="0">
                <a:solidFill>
                  <a:srgbClr val="1F1612"/>
                </a:solidFill>
                <a:latin typeface="Verdana"/>
              </a:rPr>
              <a:t>Vehicular Limitation</a:t>
            </a:r>
          </a:p>
        </p:txBody>
      </p:sp>
      <p:sp>
        <p:nvSpPr>
          <p:cNvPr id="22" name="Chevron 21"/>
          <p:cNvSpPr/>
          <p:nvPr/>
        </p:nvSpPr>
        <p:spPr>
          <a:xfrm>
            <a:off x="3794760" y="4626864"/>
            <a:ext cx="365760" cy="411480"/>
          </a:xfrm>
          <a:prstGeom prst="chevron">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297680" y="4398264"/>
            <a:ext cx="7436815" cy="868680"/>
          </a:xfrm>
          <a:prstGeom prst="roundRect">
            <a:avLst/>
          </a:prstGeom>
          <a:solidFill>
            <a:srgbClr val="FFFFFF"/>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400" y="4443984"/>
            <a:ext cx="7345375" cy="777240"/>
          </a:xfrm>
          <a:prstGeom prst="rect">
            <a:avLst/>
          </a:prstGeom>
          <a:noFill/>
        </p:spPr>
        <p:txBody>
          <a:bodyPr wrap="square">
            <a:spAutoFit/>
          </a:bodyPr>
          <a:lstStyle/>
          <a:p>
            <a:pPr>
              <a:spcAft>
                <a:spcPts val="200"/>
              </a:spcAft>
            </a:pPr>
            <a:r>
              <a:rPr sz="1100" b="1" i="0">
                <a:solidFill>
                  <a:srgbClr val="008080"/>
                </a:solidFill>
                <a:latin typeface="Georgia"/>
              </a:rPr>
              <a:t>MULTIMODAL TRANSPORT GRAPHS — </a:t>
            </a:r>
            <a:r>
              <a:rPr sz="900" b="0" i="0">
                <a:solidFill>
                  <a:srgbClr val="1F1612"/>
                </a:solidFill>
                <a:latin typeface="Verdana"/>
              </a:rPr>
              <a:t>Synthesize multiple network layers—combining vehicular, pedestrian, and subway transit layers into a singular multimodal routing graph.</a:t>
            </a:r>
          </a:p>
        </p:txBody>
      </p:sp>
      <p:sp>
        <p:nvSpPr>
          <p:cNvPr id="25" name="Rounded Rectangle 24"/>
          <p:cNvSpPr/>
          <p:nvPr/>
        </p:nvSpPr>
        <p:spPr>
          <a:xfrm>
            <a:off x="457200" y="5376672"/>
            <a:ext cx="3200400" cy="868680"/>
          </a:xfrm>
          <a:prstGeom prst="roundRect">
            <a:avLst/>
          </a:prstGeom>
          <a:solidFill>
            <a:srgbClr val="F5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5422392"/>
            <a:ext cx="3108960" cy="777240"/>
          </a:xfrm>
          <a:prstGeom prst="rect">
            <a:avLst/>
          </a:prstGeom>
          <a:noFill/>
        </p:spPr>
        <p:txBody>
          <a:bodyPr wrap="square">
            <a:spAutoFit/>
          </a:bodyPr>
          <a:lstStyle/>
          <a:p>
            <a:pPr>
              <a:spcAft>
                <a:spcPts val="200"/>
              </a:spcAft>
            </a:pPr>
            <a:r>
              <a:rPr sz="800" b="1" i="0">
                <a:solidFill>
                  <a:srgbClr val="8B0000"/>
                </a:solidFill>
                <a:latin typeface="Verdana"/>
              </a:rPr>
              <a:t>BOTTLENECK:
</a:t>
            </a:r>
            <a:r>
              <a:rPr sz="900" b="0" i="0">
                <a:solidFill>
                  <a:srgbClr val="1F1612"/>
                </a:solidFill>
                <a:latin typeface="Verdana"/>
              </a:rPr>
              <a:t>Equity &amp; Inclusion Gaps</a:t>
            </a:r>
          </a:p>
        </p:txBody>
      </p:sp>
      <p:sp>
        <p:nvSpPr>
          <p:cNvPr id="27" name="Chevron 26"/>
          <p:cNvSpPr/>
          <p:nvPr/>
        </p:nvSpPr>
        <p:spPr>
          <a:xfrm>
            <a:off x="3794760" y="5605272"/>
            <a:ext cx="365760" cy="411480"/>
          </a:xfrm>
          <a:prstGeom prst="chevron">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297680" y="5376672"/>
            <a:ext cx="7436815" cy="868680"/>
          </a:xfrm>
          <a:prstGeom prst="roundRect">
            <a:avLst/>
          </a:prstGeom>
          <a:solidFill>
            <a:srgbClr val="FFFFFF"/>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43400" y="5422392"/>
            <a:ext cx="7345375" cy="777240"/>
          </a:xfrm>
          <a:prstGeom prst="rect">
            <a:avLst/>
          </a:prstGeom>
          <a:noFill/>
        </p:spPr>
        <p:txBody>
          <a:bodyPr wrap="square">
            <a:spAutoFit/>
          </a:bodyPr>
          <a:lstStyle/>
          <a:p>
            <a:pPr>
              <a:spcAft>
                <a:spcPts val="200"/>
              </a:spcAft>
            </a:pPr>
            <a:r>
              <a:rPr sz="1100" b="1" i="0">
                <a:solidFill>
                  <a:srgbClr val="008080"/>
                </a:solidFill>
                <a:latin typeface="Georgia"/>
              </a:rPr>
              <a:t>ACCESSIBILITY &amp; EDI INFRASTRUCTURE — </a:t>
            </a:r>
            <a:r>
              <a:rPr sz="900" b="0" i="0">
                <a:solidFill>
                  <a:srgbClr val="1F1612"/>
                </a:solidFill>
                <a:latin typeface="Verdana"/>
              </a:rPr>
              <a:t>Query specific spatial accessibility parameters (tactile paving, wheelchair ramps, sidewalk gradients) to design inclusive paths for visually or physically impaired users.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65760"/>
            <a:ext cx="11277295" cy="731520"/>
          </a:xfrm>
          <a:prstGeom prst="rect">
            <a:avLst/>
          </a:prstGeom>
          <a:noFill/>
        </p:spPr>
        <p:txBody>
          <a:bodyPr wrap="square" tIns="91440" bIns="91440">
            <a:spAutoFit/>
          </a:bodyPr>
          <a:lstStyle/>
          <a:p>
            <a:pPr>
              <a:spcAft>
                <a:spcPts val="200"/>
              </a:spcAft>
            </a:pPr>
            <a:r>
              <a:rPr sz="1000" b="1" i="0">
                <a:solidFill>
                  <a:srgbClr val="008080"/>
                </a:solidFill>
                <a:latin typeface="Verdana"/>
              </a:rPr>
              <a:t>CONCLUSION  |  </a:t>
            </a:r>
            <a:r>
              <a:rPr sz="2400" b="1" i="0">
                <a:solidFill>
                  <a:srgbClr val="1F1612"/>
                </a:solidFill>
                <a:latin typeface="Georgia"/>
              </a:rPr>
              <a:t>The Future of Spatial Intelligence: Concluding Remarks</a:t>
            </a:r>
          </a:p>
        </p:txBody>
      </p:sp>
      <p:sp>
        <p:nvSpPr>
          <p:cNvPr id="4" name="Rectangle 3"/>
          <p:cNvSpPr/>
          <p:nvPr/>
        </p:nvSpPr>
        <p:spPr>
          <a:xfrm>
            <a:off x="457200" y="1051560"/>
            <a:ext cx="11277295" cy="25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71600"/>
            <a:ext cx="10362895" cy="1645920"/>
          </a:xfrm>
          <a:prstGeom prst="rect">
            <a:avLst/>
          </a:prstGeom>
          <a:noFill/>
        </p:spPr>
        <p:txBody>
          <a:bodyPr wrap="square">
            <a:spAutoFit/>
          </a:bodyPr>
          <a:lstStyle/>
          <a:p>
            <a:pPr algn="ctr">
              <a:spcAft>
                <a:spcPts val="800"/>
              </a:spcAft>
            </a:pPr>
            <a:r>
              <a:rPr sz="1800" b="1" i="0">
                <a:solidFill>
                  <a:srgbClr val="008080"/>
                </a:solidFill>
                <a:latin typeface="Georgia"/>
              </a:rPr>
              <a:t>Intellectual synthesis of search, reasoning, and machine learning proves that navigation must move beyond simple distance metrics to become truly context-aware.
</a:t>
            </a:r>
            <a:r>
              <a:rPr sz="1200" b="0" i="1">
                <a:solidFill>
                  <a:srgbClr val="708090"/>
                </a:solidFill>
                <a:latin typeface="Verdana"/>
              </a:rPr>
              <a:t>By coupling symbolic rules with statistical profiling, we establish a new paradigm for dynamic and inclusive spatial computation.</a:t>
            </a:r>
          </a:p>
        </p:txBody>
      </p:sp>
      <p:sp>
        <p:nvSpPr>
          <p:cNvPr id="6" name="Rounded Rectangle 5"/>
          <p:cNvSpPr/>
          <p:nvPr/>
        </p:nvSpPr>
        <p:spPr>
          <a:xfrm>
            <a:off x="914400" y="3291840"/>
            <a:ext cx="2468880" cy="2560320"/>
          </a:xfrm>
          <a:prstGeom prst="roundRect">
            <a:avLst/>
          </a:prstGeom>
          <a:solidFill>
            <a:srgbClr val="F5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3429000"/>
            <a:ext cx="2286000" cy="2286000"/>
          </a:xfrm>
          <a:prstGeom prst="rect">
            <a:avLst/>
          </a:prstGeom>
          <a:noFill/>
        </p:spPr>
        <p:txBody>
          <a:bodyPr wrap="square">
            <a:spAutoFit/>
          </a:bodyPr>
          <a:lstStyle/>
          <a:p>
            <a:pPr>
              <a:spcAft>
                <a:spcPts val="600"/>
              </a:spcAft>
            </a:pPr>
            <a:r>
              <a:rPr sz="1100" b="1" i="0">
                <a:solidFill>
                  <a:srgbClr val="D4AF37"/>
                </a:solidFill>
                <a:latin typeface="Georgia"/>
              </a:rPr>
              <a:t>HYBRID AI INTEGRATION
</a:t>
            </a:r>
          </a:p>
          <a:p>
            <a:r>
              <a:rPr sz="900" b="0" i="0">
                <a:solidFill>
                  <a:srgbClr val="1F1612"/>
                </a:solidFill>
                <a:latin typeface="Verdana"/>
              </a:rPr>
              <a:t>Combines knowledge representations, statistical machine learning, and heuristic search into an elegant, decoupled architecture.</a:t>
            </a:r>
          </a:p>
        </p:txBody>
      </p:sp>
      <p:sp>
        <p:nvSpPr>
          <p:cNvPr id="8" name="Rounded Rectangle 7"/>
          <p:cNvSpPr/>
          <p:nvPr/>
        </p:nvSpPr>
        <p:spPr>
          <a:xfrm>
            <a:off x="3602736" y="3291840"/>
            <a:ext cx="2468880" cy="2560320"/>
          </a:xfrm>
          <a:prstGeom prst="roundRect">
            <a:avLst/>
          </a:prstGeom>
          <a:solidFill>
            <a:srgbClr val="F5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94176" y="3429000"/>
            <a:ext cx="2286000" cy="2286000"/>
          </a:xfrm>
          <a:prstGeom prst="rect">
            <a:avLst/>
          </a:prstGeom>
          <a:noFill/>
        </p:spPr>
        <p:txBody>
          <a:bodyPr wrap="square">
            <a:spAutoFit/>
          </a:bodyPr>
          <a:lstStyle/>
          <a:p>
            <a:pPr>
              <a:spcAft>
                <a:spcPts val="600"/>
              </a:spcAft>
            </a:pPr>
            <a:r>
              <a:rPr sz="1100" b="1" i="0">
                <a:solidFill>
                  <a:srgbClr val="D4AF37"/>
                </a:solidFill>
                <a:latin typeface="Georgia"/>
              </a:rPr>
              <a:t>CONTEXT-AWARE LOGIC
</a:t>
            </a:r>
          </a:p>
          <a:p>
            <a:r>
              <a:rPr sz="900" b="0" i="0">
                <a:solidFill>
                  <a:srgbClr val="1F1612"/>
                </a:solidFill>
                <a:latin typeface="Verdana"/>
              </a:rPr>
              <a:t>Mutates search space graphs dynamically in response to safety and meteorological environments via symbolic rules.</a:t>
            </a:r>
          </a:p>
        </p:txBody>
      </p:sp>
      <p:sp>
        <p:nvSpPr>
          <p:cNvPr id="10" name="Rounded Rectangle 9"/>
          <p:cNvSpPr/>
          <p:nvPr/>
        </p:nvSpPr>
        <p:spPr>
          <a:xfrm>
            <a:off x="6291072" y="3291840"/>
            <a:ext cx="2468880" cy="2560320"/>
          </a:xfrm>
          <a:prstGeom prst="roundRect">
            <a:avLst/>
          </a:prstGeom>
          <a:solidFill>
            <a:srgbClr val="F5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82512" y="3429000"/>
            <a:ext cx="2286000" cy="2286000"/>
          </a:xfrm>
          <a:prstGeom prst="rect">
            <a:avLst/>
          </a:prstGeom>
          <a:noFill/>
        </p:spPr>
        <p:txBody>
          <a:bodyPr wrap="square">
            <a:spAutoFit/>
          </a:bodyPr>
          <a:lstStyle/>
          <a:p>
            <a:pPr>
              <a:spcAft>
                <a:spcPts val="600"/>
              </a:spcAft>
            </a:pPr>
            <a:r>
              <a:rPr sz="1100" b="1" i="0">
                <a:solidFill>
                  <a:srgbClr val="D4AF37"/>
                </a:solidFill>
                <a:latin typeface="Georgia"/>
              </a:rPr>
              <a:t>PERSONALISED UTILITY
</a:t>
            </a:r>
          </a:p>
          <a:p>
            <a:r>
              <a:rPr sz="900" b="0" i="0">
                <a:solidFill>
                  <a:srgbClr val="1F1612"/>
                </a:solidFill>
                <a:latin typeface="Verdana"/>
              </a:rPr>
              <a:t>Ranks point-of-interest clusters by optimizing custom multi-feature weights tailored to distinctive traveler profiles.</a:t>
            </a:r>
          </a:p>
        </p:txBody>
      </p:sp>
      <p:sp>
        <p:nvSpPr>
          <p:cNvPr id="12" name="Rounded Rectangle 11"/>
          <p:cNvSpPr/>
          <p:nvPr/>
        </p:nvSpPr>
        <p:spPr>
          <a:xfrm>
            <a:off x="8979408" y="3291840"/>
            <a:ext cx="2468880" cy="2560320"/>
          </a:xfrm>
          <a:prstGeom prst="roundRect">
            <a:avLst/>
          </a:prstGeom>
          <a:solidFill>
            <a:srgbClr val="F5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70848" y="3429000"/>
            <a:ext cx="2286000" cy="2286000"/>
          </a:xfrm>
          <a:prstGeom prst="rect">
            <a:avLst/>
          </a:prstGeom>
          <a:noFill/>
        </p:spPr>
        <p:txBody>
          <a:bodyPr wrap="square">
            <a:spAutoFit/>
          </a:bodyPr>
          <a:lstStyle/>
          <a:p>
            <a:pPr>
              <a:spcAft>
                <a:spcPts val="600"/>
              </a:spcAft>
            </a:pPr>
            <a:r>
              <a:rPr sz="1100" b="1" i="0">
                <a:solidFill>
                  <a:srgbClr val="D4AF37"/>
                </a:solidFill>
                <a:latin typeface="Georgia"/>
              </a:rPr>
              <a:t>SCALABLE ENGINEERING
</a:t>
            </a:r>
          </a:p>
          <a:p>
            <a:r>
              <a:rPr sz="900" b="0" i="0">
                <a:solidFill>
                  <a:srgbClr val="1F1612"/>
                </a:solidFill>
                <a:latin typeface="Verdana"/>
              </a:rPr>
              <a:t>Maintains high spatial performance and lower server latency through cache systems and admissible heuristics.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89D36-7FFB-742F-7628-9A3A7FFB4130}"/>
              </a:ext>
            </a:extLst>
          </p:cNvPr>
          <p:cNvSpPr>
            <a:spLocks noGrp="1"/>
          </p:cNvSpPr>
          <p:nvPr>
            <p:ph type="title"/>
          </p:nvPr>
        </p:nvSpPr>
        <p:spPr>
          <a:xfrm>
            <a:off x="1844936" y="2404652"/>
            <a:ext cx="8229600" cy="1143000"/>
          </a:xfrm>
        </p:spPr>
        <p:txBody>
          <a:bodyPr/>
          <a:lstStyle/>
          <a:p>
            <a:r>
              <a:rPr lang="en-US" dirty="0">
                <a:latin typeface="Georgia" panose="02040502050405020303" pitchFamily="18" charset="0"/>
              </a:rPr>
              <a:t>Thank you</a:t>
            </a:r>
          </a:p>
        </p:txBody>
      </p:sp>
    </p:spTree>
    <p:extLst>
      <p:ext uri="{BB962C8B-B14F-4D97-AF65-F5344CB8AC3E}">
        <p14:creationId xmlns:p14="http://schemas.microsoft.com/office/powerpoint/2010/main" val="2386505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2213</Words>
  <Application>Microsoft Office PowerPoint</Application>
  <PresentationFormat>Widescreen</PresentationFormat>
  <Paragraphs>159</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Georgia</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Kaluthanthri De Silva</dc:creator>
  <cp:lastModifiedBy>Kaluthanthri De Silva</cp:lastModifiedBy>
  <cp:revision>2</cp:revision>
  <dcterms:created xsi:type="dcterms:W3CDTF">2026-08-05T05:36:59Z</dcterms:created>
  <dcterms:modified xsi:type="dcterms:W3CDTF">2026-08-05T05:40:55Z</dcterms:modified>
</cp:coreProperties>
</file>